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0"/>
  </p:normalViewPr>
  <p:slideViewPr>
    <p:cSldViewPr snapToGrid="0">
      <p:cViewPr varScale="1">
        <p:scale>
          <a:sx n="119" d="100"/>
          <a:sy n="119" d="100"/>
        </p:scale>
        <p:origin x="50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by explaining that the original diagrams were architectural proposals. The code is now the source of truth, so this walkthrough shows what stayed stable, what changed, and why the final structure is still sound.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introduce the actual src/ structure. Call out hooks/, the absence of routes/, and the combined routing/startup responsibility of App.tsx and main.tsx.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left to right through each row. Relate the frontend API layer to an httpx client and frontend types to Pydantic schemas. Highlight that App.tsx now owns URL mapping.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at main.tsx and follow arrows downward. Explain that pages coordinate, components display, API modules communicate, and hooks package reusable stateful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why this is simpler than creating a routes folder: App.tsx is still short and is the natural composition root. Point out that ProtectedRoute improves navigation, while FastAPI remains the real security boundary.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seven numbered steps. Stress that listTasks() knows the endpoint, request() knows HTTP and authentication, and the page only coordinates state and rendering.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TaskListPage and TaskCard as the concrete examples. The page owns loading, filters and API calls. TaskCard receives props and emits callbacks without calling FastAPI.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legend first. Dashed boxes show markup kept inline because it is small and single-use. Solid boxes are reusable components extracted because they have a stable responsibility.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the two columns. Explain that the implementation is not monolithic: important reusable elements were extracted. It simply avoided creating wrapper components with no independent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the practical reference slide. Point out the two corrections: App.tsx for URL mapping and hooks/ for reusable stateful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user journey from API-key connection to CRUD actions. Reinforce that completion is one-way because the backend has no reopen endpoint.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architecture includes maintainability mechanisms. Tests clarify expected behavior, while design.md and spec.md explain why the UI and API integration work the way they 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the closing practical checklist. Invite the audience to name a future feature and walk through which modules would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ver-eyebrow">
            <a:extLst>
              <a:ext uri="{FF2B5EF4-FFF2-40B4-BE49-F238E27FC236}">
                <a16:creationId xmlns:a16="http://schemas.microsoft.com/office/drawing/2014/main" id="{8C5847EE-025D-4D4F-9269-8C47CB0C9D0D}"/>
              </a:ext>
            </a:extLst>
          </p:cNvPr>
          <p:cNvSpPr>
            <a:spLocks noGrp="1"/>
          </p:cNvSpPr>
          <p:nvPr/>
        </p:nvSpPr>
        <p:spPr>
          <a:xfrm>
            <a:off x="400050" y="381000"/>
            <a:ext cx="7429500" cy="361950"/>
          </a:xfrm>
          <a:prstGeom prst="rect">
            <a:avLst/>
          </a:prstGeom>
          <a:noFill/>
          <a:ln w="0">
            <a:noFill/>
            <a:prstDash val="solid"/>
          </a:ln>
        </p:spPr>
        <p:txBody>
          <a:bodyPr lIns="0" tIns="0" rIns="0" bIns="0" anchor="t">
            <a:normAutofit/>
          </a:bodyPr>
          <a:lstStyle/>
          <a:p>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MINITRACK • IMPLEMENTATION WALKTHROUGH</a:t>
            </a:r>
          </a:p>
        </p:txBody>
      </p:sp>
      <p:sp>
        <p:nvSpPr>
          <p:cNvPr id="2" name="cover-title">
            <a:extLst>
              <a:ext uri="{FF2B5EF4-FFF2-40B4-BE49-F238E27FC236}">
                <a16:creationId xmlns:a16="http://schemas.microsoft.com/office/drawing/2014/main" id="{CC15788B-4E22-4920-8BAB-2C8D7DEE0F6B}"/>
              </a:ext>
            </a:extLst>
          </p:cNvPr>
          <p:cNvSpPr>
            <a:spLocks noGrp="1"/>
          </p:cNvSpPr>
          <p:nvPr/>
        </p:nvSpPr>
        <p:spPr>
          <a:xfrm>
            <a:off x="400050" y="1714500"/>
            <a:ext cx="10096500" cy="1620371"/>
          </a:xfrm>
          <a:prstGeom prst="rect">
            <a:avLst/>
          </a:prstGeom>
          <a:noFill/>
          <a:ln w="0">
            <a:noFill/>
            <a:prstDash val="solid"/>
          </a:ln>
        </p:spPr>
        <p:txBody>
          <a:bodyPr lIns="0" tIns="0" rIns="0" bIns="0" anchor="b">
            <a:normAutofit/>
          </a:bodyPr>
          <a:lstStyle/>
          <a:p>
            <a:pPr algn="ctr">
              <a:defRPr sz="5100" b="1">
                <a:solidFill>
                  <a:srgbClr val="000000"/>
                </a:solidFill>
                <a:latin typeface="Helvetica Neue"/>
                <a:ea typeface="Helvetica Neue"/>
                <a:cs typeface="Helvetica Neue"/>
              </a:defRPr>
            </a:pPr>
            <a:r>
              <a:rPr sz="5100" b="1" dirty="0">
                <a:solidFill>
                  <a:srgbClr val="000000"/>
                </a:solidFill>
                <a:latin typeface="Helvetica Neue"/>
                <a:ea typeface="Helvetica Neue"/>
                <a:cs typeface="Helvetica Neue"/>
              </a:rPr>
              <a:t>React frontend architecture</a:t>
            </a:r>
            <a:r>
              <a:rPr lang="en-US" sz="5100" b="1" dirty="0">
                <a:solidFill>
                  <a:srgbClr val="000000"/>
                </a:solidFill>
                <a:latin typeface="Helvetica Neue"/>
                <a:ea typeface="Helvetica Neue"/>
                <a:cs typeface="Helvetica Neue"/>
              </a:rPr>
              <a:t> </a:t>
            </a:r>
            <a:endParaRPr sz="5100" b="1" dirty="0">
              <a:solidFill>
                <a:srgbClr val="000000"/>
              </a:solidFill>
              <a:latin typeface="Helvetica Neue"/>
              <a:ea typeface="Helvetica Neue"/>
              <a:cs typeface="Helvetica Neue"/>
            </a:endParaRPr>
          </a:p>
        </p:txBody>
      </p:sp>
      <p:sp>
        <p:nvSpPr>
          <p:cNvPr id="3" name="cover-accent">
            <a:extLst>
              <a:ext uri="{FF2B5EF4-FFF2-40B4-BE49-F238E27FC236}">
                <a16:creationId xmlns:a16="http://schemas.microsoft.com/office/drawing/2014/main" id="{F55ABA74-E982-444A-8587-012DFD528EBD}"/>
              </a:ext>
            </a:extLst>
          </p:cNvPr>
          <p:cNvSpPr>
            <a:spLocks noGrp="1"/>
          </p:cNvSpPr>
          <p:nvPr/>
        </p:nvSpPr>
        <p:spPr>
          <a:xfrm>
            <a:off x="400050" y="4514850"/>
            <a:ext cx="4857750" cy="95250"/>
          </a:xfrm>
          <a:prstGeom prst="rect">
            <a:avLst/>
          </a:prstGeom>
          <a:solidFill>
            <a:srgbClr val="3D8DFF"/>
          </a:solidFill>
          <a:ln w="14288">
            <a:solidFill>
              <a:srgbClr val="3D8DFF"/>
            </a:solidFill>
            <a:prstDash val="solid"/>
          </a:ln>
        </p:spPr>
        <p:txBody>
          <a:bodyPr/>
          <a:lstStyle/>
          <a:p>
            <a:endParaRPr lang="en-US"/>
          </a:p>
        </p:txBody>
      </p:sp>
      <p:sp>
        <p:nvSpPr>
          <p:cNvPr id="4" name="cover-subtitle">
            <a:extLst>
              <a:ext uri="{FF2B5EF4-FFF2-40B4-BE49-F238E27FC236}">
                <a16:creationId xmlns:a16="http://schemas.microsoft.com/office/drawing/2014/main" id="{CCD088BE-2416-4A8A-A7A9-F0A4F7032AF6}"/>
              </a:ext>
            </a:extLst>
          </p:cNvPr>
          <p:cNvSpPr>
            <a:spLocks noGrp="1"/>
          </p:cNvSpPr>
          <p:nvPr/>
        </p:nvSpPr>
        <p:spPr>
          <a:xfrm>
            <a:off x="400050" y="4953000"/>
            <a:ext cx="7810500" cy="609600"/>
          </a:xfrm>
          <a:prstGeom prst="rect">
            <a:avLst/>
          </a:prstGeom>
          <a:noFill/>
          <a:ln w="0">
            <a:noFill/>
            <a:prstDash val="solid"/>
          </a:ln>
        </p:spPr>
        <p:txBody>
          <a:bodyPr lIns="0" tIns="0" rIns="0" bIns="0" anchor="t">
            <a:normAutofit/>
          </a:bodyPr>
          <a:lstStyle/>
          <a:p>
            <a:pPr algn="l">
              <a:defRPr sz="2250" b="0">
                <a:solidFill>
                  <a:srgbClr val="000000"/>
                </a:solidFill>
                <a:latin typeface="Helvetica Neue"/>
                <a:ea typeface="Helvetica Neue"/>
                <a:cs typeface="Helvetica Neue"/>
              </a:defRPr>
            </a:pPr>
            <a:r>
              <a:rPr sz="2250" b="0" dirty="0">
                <a:solidFill>
                  <a:srgbClr val="000000"/>
                </a:solidFill>
                <a:latin typeface="Helvetica Neue"/>
                <a:ea typeface="Helvetica Neue"/>
                <a:cs typeface="Helvetica Neue"/>
              </a:rPr>
              <a:t>Updated diagrams and a guided tour of </a:t>
            </a:r>
            <a:r>
              <a:rPr sz="2250" b="0" dirty="0" err="1">
                <a:solidFill>
                  <a:srgbClr val="000000"/>
                </a:solidFill>
                <a:latin typeface="Helvetica Neue"/>
                <a:ea typeface="Helvetica Neue"/>
                <a:cs typeface="Helvetica Neue"/>
              </a:rPr>
              <a:t>mt_frontend_react</a:t>
            </a:r>
            <a:endParaRPr sz="2250" b="0" dirty="0">
              <a:solidFill>
                <a:srgbClr val="000000"/>
              </a:solidFill>
              <a:latin typeface="Helvetica Neue"/>
              <a:ea typeface="Helvetica Neue"/>
              <a:cs typeface="Helvetica Neue"/>
            </a:endParaRPr>
          </a:p>
        </p:txBody>
      </p:sp>
      <p:sp>
        <p:nvSpPr>
          <p:cNvPr id="5" name="cover-source">
            <a:extLst>
              <a:ext uri="{FF2B5EF4-FFF2-40B4-BE49-F238E27FC236}">
                <a16:creationId xmlns:a16="http://schemas.microsoft.com/office/drawing/2014/main" id="{8EDB6A6C-7F86-4301-9600-F6F121CEA0AD}"/>
              </a:ext>
            </a:extLst>
          </p:cNvPr>
          <p:cNvSpPr>
            <a:spLocks noGrp="1"/>
          </p:cNvSpPr>
          <p:nvPr/>
        </p:nvSpPr>
        <p:spPr>
          <a:xfrm>
            <a:off x="400050" y="6067425"/>
            <a:ext cx="7239000" cy="228600"/>
          </a:xfrm>
          <a:prstGeom prst="rect">
            <a:avLst/>
          </a:prstGeom>
          <a:noFill/>
          <a:ln w="0">
            <a:noFill/>
            <a:prstDash val="solid"/>
          </a:ln>
        </p:spPr>
        <p:txBody>
          <a:bodyPr lIns="0" tIns="0" rIns="0" bIns="0" anchor="t">
            <a:normAutofit/>
          </a:bodyPr>
          <a:lstStyle/>
          <a:p>
            <a:pPr algn="l">
              <a:defRPr sz="1200" b="0">
                <a:solidFill>
                  <a:srgbClr val="566176"/>
                </a:solidFill>
                <a:latin typeface="Helvetica Neue"/>
                <a:ea typeface="Helvetica Neue"/>
                <a:cs typeface="Helvetica Neue"/>
              </a:defRPr>
            </a:pPr>
            <a:r>
              <a:rPr sz="1200" b="0">
                <a:solidFill>
                  <a:srgbClr val="566176"/>
                </a:solidFill>
                <a:latin typeface="Helvetica Neue"/>
                <a:ea typeface="Helvetica Neue"/>
                <a:cs typeface="Helvetica Neue"/>
              </a:rPr>
              <a:t>Source branch: deepakbabel23/minitrack • mt_frontend_react</a:t>
            </a:r>
          </a:p>
        </p:txBody>
      </p:sp>
    </p:spTree>
    <p:extLst>
      <p:ext uri="{BB962C8B-B14F-4D97-AF65-F5344CB8AC3E}">
        <p14:creationId xmlns:p14="http://schemas.microsoft.com/office/powerpoint/2010/main" val="318890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989686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596934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523369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7">
            <a:extLst>
              <a:ext uri="{FF2B5EF4-FFF2-40B4-BE49-F238E27FC236}">
                <a16:creationId xmlns:a16="http://schemas.microsoft.com/office/drawing/2014/main" id="{D11C990F-A483-47C1-A1D5-52F92CA328DE}"/>
              </a:ext>
            </a:extLst>
          </p:cNvPr>
          <p:cNvSpPr>
            <a:spLocks noGrp="1"/>
          </p:cNvSpPr>
          <p:nvPr/>
        </p:nvSpPr>
        <p:spPr>
          <a:xfrm>
            <a:off x="400050" y="323850"/>
            <a:ext cx="11049000" cy="742950"/>
          </a:xfrm>
          <a:prstGeom prst="rect">
            <a:avLst/>
          </a:prstGeom>
          <a:noFill/>
          <a:ln w="0">
            <a:noFill/>
            <a:prstDash val="solid"/>
          </a:ln>
        </p:spPr>
        <p:txBody>
          <a:bodyPr lIns="0" tIns="0" rIns="0" bIns="0" anchor="t">
            <a:normAutofit/>
          </a:bodyPr>
          <a:lstStyle/>
          <a:p>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Startup lives in main.tsx; URL mapping lives in App.tsx</a:t>
            </a:r>
          </a:p>
        </p:txBody>
      </p:sp>
      <p:sp>
        <p:nvSpPr>
          <p:cNvPr id="2" name="slide-number-7">
            <a:extLst>
              <a:ext uri="{FF2B5EF4-FFF2-40B4-BE49-F238E27FC236}">
                <a16:creationId xmlns:a16="http://schemas.microsoft.com/office/drawing/2014/main" id="{413AE27E-3358-455E-98D8-1AB9FC1DCF60}"/>
              </a:ext>
            </a:extLst>
          </p:cNvPr>
          <p:cNvSpPr>
            <a:spLocks noGrp="1"/>
          </p:cNvSpPr>
          <p:nvPr/>
        </p:nvSpPr>
        <p:spPr>
          <a:xfrm>
            <a:off x="11334750" y="6334125"/>
            <a:ext cx="457200" cy="190500"/>
          </a:xfrm>
          <a:prstGeom prst="rect">
            <a:avLst/>
          </a:prstGeom>
          <a:noFill/>
          <a:ln w="0">
            <a:noFill/>
            <a:prstDash val="solid"/>
          </a:ln>
        </p:spPr>
        <p:txBody>
          <a:bodyPr lIns="0" tIns="0" rIns="0" bIns="0" anchor="t">
            <a:normAutofit/>
          </a:bodyPr>
          <a:lstStyle/>
          <a:p>
            <a:pPr algn="r">
              <a:defRPr sz="1050" b="0">
                <a:solidFill>
                  <a:srgbClr val="566176"/>
                </a:solidFill>
                <a:latin typeface="Helvetica Neue"/>
                <a:ea typeface="Helvetica Neue"/>
                <a:cs typeface="Helvetica Neue"/>
              </a:defRPr>
            </a:pPr>
            <a:r>
              <a:rPr sz="1050" b="0">
                <a:solidFill>
                  <a:srgbClr val="566176"/>
                </a:solidFill>
                <a:latin typeface="Helvetica Neue"/>
                <a:ea typeface="Helvetica Neue"/>
                <a:cs typeface="Helvetica Neue"/>
              </a:rPr>
              <a:t>07</a:t>
            </a:r>
          </a:p>
        </p:txBody>
      </p:sp>
      <p:sp>
        <p:nvSpPr>
          <p:cNvPr id="3" name="routing-intro">
            <a:extLst>
              <a:ext uri="{FF2B5EF4-FFF2-40B4-BE49-F238E27FC236}">
                <a16:creationId xmlns:a16="http://schemas.microsoft.com/office/drawing/2014/main" id="{4011C247-B5F6-455B-B22C-385D8E8DC7D2}"/>
              </a:ext>
            </a:extLst>
          </p:cNvPr>
          <p:cNvSpPr>
            <a:spLocks noGrp="1"/>
          </p:cNvSpPr>
          <p:nvPr/>
        </p:nvSpPr>
        <p:spPr>
          <a:xfrm>
            <a:off x="400050" y="1095375"/>
            <a:ext cx="10477500" cy="457200"/>
          </a:xfrm>
          <a:prstGeom prst="rect">
            <a:avLst/>
          </a:prstGeom>
          <a:noFill/>
          <a:ln w="0">
            <a:noFill/>
            <a:prstDash val="solid"/>
          </a:ln>
        </p:spPr>
        <p:txBody>
          <a:bodyPr lIns="0" tIns="0" rIns="0" bIns="0" anchor="t">
            <a:normAutofit/>
          </a:bodyPr>
          <a:lstStyle/>
          <a:p>
            <a:pPr algn="l">
              <a:defRPr sz="1800" b="0">
                <a:solidFill>
                  <a:srgbClr val="566176"/>
                </a:solidFill>
                <a:latin typeface="Helvetica Neue"/>
                <a:ea typeface="Helvetica Neue"/>
                <a:cs typeface="Helvetica Neue"/>
              </a:defRPr>
            </a:pPr>
            <a:r>
              <a:rPr sz="1800" b="0">
                <a:solidFill>
                  <a:srgbClr val="566176"/>
                </a:solidFill>
                <a:latin typeface="Helvetica Neue"/>
                <a:ea typeface="Helvetica Neue"/>
                <a:cs typeface="Helvetica Neue"/>
              </a:rPr>
              <a:t>Two small composition roots make navigation and authentication easy to trace.</a:t>
            </a:r>
          </a:p>
        </p:txBody>
      </p:sp>
      <p:sp>
        <p:nvSpPr>
          <p:cNvPr id="4" name="startup-panel">
            <a:extLst>
              <a:ext uri="{FF2B5EF4-FFF2-40B4-BE49-F238E27FC236}">
                <a16:creationId xmlns:a16="http://schemas.microsoft.com/office/drawing/2014/main" id="{B8090B96-C092-4DA8-82AB-2930C8AFFFB3}"/>
              </a:ext>
            </a:extLst>
          </p:cNvPr>
          <p:cNvSpPr>
            <a:spLocks noGrp="1"/>
          </p:cNvSpPr>
          <p:nvPr/>
        </p:nvSpPr>
        <p:spPr>
          <a:xfrm>
            <a:off x="400050" y="1981200"/>
            <a:ext cx="5334000" cy="3667125"/>
          </a:xfrm>
          <a:prstGeom prst="rect">
            <a:avLst/>
          </a:prstGeom>
          <a:solidFill>
            <a:srgbClr val="F5F6F8"/>
          </a:solidFill>
          <a:ln w="14288">
            <a:solidFill>
              <a:srgbClr val="B8BCC4"/>
            </a:solidFill>
            <a:prstDash val="solid"/>
          </a:ln>
        </p:spPr>
        <p:txBody>
          <a:bodyPr/>
          <a:lstStyle/>
          <a:p>
            <a:endParaRPr lang="en-US"/>
          </a:p>
        </p:txBody>
      </p:sp>
      <p:sp>
        <p:nvSpPr>
          <p:cNvPr id="5" name="startup-heading">
            <a:extLst>
              <a:ext uri="{FF2B5EF4-FFF2-40B4-BE49-F238E27FC236}">
                <a16:creationId xmlns:a16="http://schemas.microsoft.com/office/drawing/2014/main" id="{17E821E6-7461-4FF7-85C0-0718E7022823}"/>
              </a:ext>
            </a:extLst>
          </p:cNvPr>
          <p:cNvSpPr>
            <a:spLocks noGrp="1"/>
          </p:cNvSpPr>
          <p:nvPr/>
        </p:nvSpPr>
        <p:spPr>
          <a:xfrm>
            <a:off x="685800" y="2305050"/>
            <a:ext cx="4762500" cy="571500"/>
          </a:xfrm>
          <a:prstGeom prst="rect">
            <a:avLst/>
          </a:prstGeom>
          <a:noFill/>
          <a:ln w="0">
            <a:noFill/>
            <a:prstDash val="solid"/>
          </a:ln>
        </p:spPr>
        <p:txBody>
          <a:bodyPr lIns="0" tIns="0" rIns="0" bIns="0" anchor="t">
            <a:normAutofit fontScale="89286"/>
          </a:bodyPr>
          <a:lstStyle/>
          <a:p>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main.tsx installs application-wide providers</a:t>
            </a:r>
          </a:p>
        </p:txBody>
      </p:sp>
      <p:sp>
        <p:nvSpPr>
          <p:cNvPr id="6" name="startup-code">
            <a:extLst>
              <a:ext uri="{FF2B5EF4-FFF2-40B4-BE49-F238E27FC236}">
                <a16:creationId xmlns:a16="http://schemas.microsoft.com/office/drawing/2014/main" id="{01A9153D-9D62-4CC5-82FF-8DBB6D81A791}"/>
              </a:ext>
            </a:extLst>
          </p:cNvPr>
          <p:cNvSpPr>
            <a:spLocks noGrp="1"/>
          </p:cNvSpPr>
          <p:nvPr/>
        </p:nvSpPr>
        <p:spPr>
          <a:xfrm>
            <a:off x="781050" y="3219450"/>
            <a:ext cx="4095750" cy="1524000"/>
          </a:xfrm>
          <a:prstGeom prst="rect">
            <a:avLst/>
          </a:prstGeom>
          <a:noFill/>
          <a:ln w="0">
            <a:noFill/>
            <a:prstDash val="solid"/>
          </a:ln>
        </p:spPr>
        <p:txBody>
          <a:bodyPr lIns="0" tIns="0" rIns="0" bIns="0" anchor="t">
            <a:normAutofit/>
          </a:bodyPr>
          <a:lstStyle/>
          <a:p>
            <a:pPr algn="l">
              <a:defRPr sz="2175" b="1">
                <a:solidFill>
                  <a:srgbClr val="4F46E5"/>
                </a:solidFill>
                <a:latin typeface="Courier New"/>
                <a:ea typeface="Courier New"/>
                <a:cs typeface="Courier New"/>
              </a:defRPr>
            </a:pPr>
            <a:r>
              <a:rPr sz="2175" b="1">
                <a:solidFill>
                  <a:srgbClr val="4F46E5"/>
                </a:solidFill>
                <a:latin typeface="Courier New"/>
                <a:ea typeface="Courier New"/>
                <a:cs typeface="Courier New"/>
              </a:rPr>
              <a:t>BrowserRouter</a:t>
            </a:r>
          </a:p>
          <a:p>
            <a:pPr algn="l">
              <a:defRPr sz="2175" b="1">
                <a:solidFill>
                  <a:srgbClr val="4F46E5"/>
                </a:solidFill>
                <a:latin typeface="Courier New"/>
                <a:ea typeface="Courier New"/>
                <a:cs typeface="Courier New"/>
              </a:defRPr>
            </a:pPr>
            <a:r>
              <a:rPr sz="2175" b="1">
                <a:solidFill>
                  <a:srgbClr val="4F46E5"/>
                </a:solidFill>
                <a:latin typeface="Courier New"/>
                <a:ea typeface="Courier New"/>
                <a:cs typeface="Courier New"/>
              </a:rPr>
              <a:t>  └─ ApiKeyProvider</a:t>
            </a:r>
          </a:p>
          <a:p>
            <a:pPr algn="l">
              <a:defRPr sz="2175" b="1">
                <a:solidFill>
                  <a:srgbClr val="4F46E5"/>
                </a:solidFill>
                <a:latin typeface="Courier New"/>
                <a:ea typeface="Courier New"/>
                <a:cs typeface="Courier New"/>
              </a:defRPr>
            </a:pPr>
            <a:r>
              <a:rPr sz="2175" b="1">
                <a:solidFill>
                  <a:srgbClr val="4F46E5"/>
                </a:solidFill>
                <a:latin typeface="Courier New"/>
                <a:ea typeface="Courier New"/>
                <a:cs typeface="Courier New"/>
              </a:rPr>
              <a:t>       └─ App</a:t>
            </a:r>
          </a:p>
        </p:txBody>
      </p:sp>
      <p:sp>
        <p:nvSpPr>
          <p:cNvPr id="7" name="startup-meaning">
            <a:extLst>
              <a:ext uri="{FF2B5EF4-FFF2-40B4-BE49-F238E27FC236}">
                <a16:creationId xmlns:a16="http://schemas.microsoft.com/office/drawing/2014/main" id="{B4D28E19-413F-4916-91CF-854E066469BF}"/>
              </a:ext>
            </a:extLst>
          </p:cNvPr>
          <p:cNvSpPr>
            <a:spLocks noGrp="1"/>
          </p:cNvSpPr>
          <p:nvPr/>
        </p:nvSpPr>
        <p:spPr>
          <a:xfrm>
            <a:off x="685800" y="4953000"/>
            <a:ext cx="4476750" cy="495300"/>
          </a:xfrm>
          <a:prstGeom prst="rect">
            <a:avLst/>
          </a:prstGeom>
          <a:noFill/>
          <a:ln w="0">
            <a:noFill/>
            <a:prstDash val="solid"/>
          </a:ln>
        </p:spPr>
        <p:txBody>
          <a:bodyPr lIns="0" tIns="0" rIns="0" bIns="0" anchor="t">
            <a:normAutofit/>
          </a:bodyPr>
          <a:lstStyle/>
          <a:p>
            <a:pPr algn="l">
              <a:defRPr sz="1500" b="0">
                <a:solidFill>
                  <a:srgbClr val="566176"/>
                </a:solidFill>
                <a:latin typeface="Helvetica Neue"/>
                <a:ea typeface="Helvetica Neue"/>
                <a:cs typeface="Helvetica Neue"/>
              </a:defRPr>
            </a:pPr>
            <a:r>
              <a:rPr sz="1500" b="0">
                <a:solidFill>
                  <a:srgbClr val="566176"/>
                </a:solidFill>
                <a:latin typeface="Helvetica Neue"/>
                <a:ea typeface="Helvetica Neue"/>
                <a:cs typeface="Helvetica Neue"/>
              </a:rPr>
              <a:t>Routing and API-key state become available to every screen.</a:t>
            </a:r>
          </a:p>
        </p:txBody>
      </p:sp>
      <p:sp>
        <p:nvSpPr>
          <p:cNvPr id="8" name="routes-panel">
            <a:extLst>
              <a:ext uri="{FF2B5EF4-FFF2-40B4-BE49-F238E27FC236}">
                <a16:creationId xmlns:a16="http://schemas.microsoft.com/office/drawing/2014/main" id="{418501F7-A5D6-4C9E-BD17-2F0D46B0D00F}"/>
              </a:ext>
            </a:extLst>
          </p:cNvPr>
          <p:cNvSpPr>
            <a:spLocks noGrp="1"/>
          </p:cNvSpPr>
          <p:nvPr/>
        </p:nvSpPr>
        <p:spPr>
          <a:xfrm>
            <a:off x="6191250" y="1981200"/>
            <a:ext cx="5600700" cy="3667125"/>
          </a:xfrm>
          <a:prstGeom prst="rect">
            <a:avLst/>
          </a:prstGeom>
          <a:solidFill>
            <a:srgbClr val="EEF2FF"/>
          </a:solidFill>
          <a:ln w="14288">
            <a:solidFill>
              <a:srgbClr val="4F46E5"/>
            </a:solidFill>
            <a:prstDash val="solid"/>
          </a:ln>
        </p:spPr>
        <p:txBody>
          <a:bodyPr/>
          <a:lstStyle/>
          <a:p>
            <a:endParaRPr lang="en-US"/>
          </a:p>
        </p:txBody>
      </p:sp>
      <p:sp>
        <p:nvSpPr>
          <p:cNvPr id="9" name="routes-heading">
            <a:extLst>
              <a:ext uri="{FF2B5EF4-FFF2-40B4-BE49-F238E27FC236}">
                <a16:creationId xmlns:a16="http://schemas.microsoft.com/office/drawing/2014/main" id="{A6152EA2-6FCA-4BA7-9799-608696F33DEB}"/>
              </a:ext>
            </a:extLst>
          </p:cNvPr>
          <p:cNvSpPr>
            <a:spLocks noGrp="1"/>
          </p:cNvSpPr>
          <p:nvPr/>
        </p:nvSpPr>
        <p:spPr>
          <a:xfrm>
            <a:off x="6477000" y="2305050"/>
            <a:ext cx="4953000" cy="457200"/>
          </a:xfrm>
          <a:prstGeom prst="rect">
            <a:avLst/>
          </a:prstGeom>
          <a:noFill/>
          <a:ln w="0">
            <a:noFill/>
            <a:prstDash val="solid"/>
          </a:ln>
        </p:spPr>
        <p:txBody>
          <a:bodyPr lIns="0" tIns="0" rIns="0" bIns="0" anchor="t">
            <a:normAutofit/>
          </a:bodyPr>
          <a:lstStyle/>
          <a:p>
            <a:pPr algn="l">
              <a:defRPr sz="2100" b="1">
                <a:solidFill>
                  <a:srgbClr val="4F46E5"/>
                </a:solidFill>
                <a:latin typeface="Helvetica Neue"/>
                <a:ea typeface="Helvetica Neue"/>
                <a:cs typeface="Helvetica Neue"/>
              </a:defRPr>
            </a:pPr>
            <a:r>
              <a:rPr sz="2100" b="1">
                <a:solidFill>
                  <a:srgbClr val="4F46E5"/>
                </a:solidFill>
                <a:latin typeface="Helvetica Neue"/>
                <a:ea typeface="Helvetica Neue"/>
                <a:cs typeface="Helvetica Neue"/>
              </a:rPr>
              <a:t>App.tsx owns the route table</a:t>
            </a:r>
          </a:p>
        </p:txBody>
      </p:sp>
      <p:sp>
        <p:nvSpPr>
          <p:cNvPr id="10" name="routes-code">
            <a:extLst>
              <a:ext uri="{FF2B5EF4-FFF2-40B4-BE49-F238E27FC236}">
                <a16:creationId xmlns:a16="http://schemas.microsoft.com/office/drawing/2014/main" id="{F9FB8E7A-DAC0-4A54-9184-29FBB59B7D4E}"/>
              </a:ext>
            </a:extLst>
          </p:cNvPr>
          <p:cNvSpPr>
            <a:spLocks noGrp="1"/>
          </p:cNvSpPr>
          <p:nvPr/>
        </p:nvSpPr>
        <p:spPr>
          <a:xfrm>
            <a:off x="6572250" y="3028950"/>
            <a:ext cx="2857500" cy="2143125"/>
          </a:xfrm>
          <a:prstGeom prst="rect">
            <a:avLst/>
          </a:prstGeom>
          <a:noFill/>
          <a:ln w="0">
            <a:noFill/>
            <a:prstDash val="solid"/>
          </a:ln>
        </p:spPr>
        <p:txBody>
          <a:bodyPr lIns="0" tIns="0" rIns="0" bIns="0" anchor="t">
            <a:normAutofit/>
          </a:bodyPr>
          <a:lstStyle/>
          <a:p>
            <a:pPr algn="l">
              <a:defRPr sz="1875" b="1">
                <a:solidFill>
                  <a:srgbClr val="000000"/>
                </a:solidFill>
                <a:latin typeface="Courier New"/>
                <a:ea typeface="Courier New"/>
                <a:cs typeface="Courier New"/>
              </a:defRPr>
            </a:pPr>
            <a:r>
              <a:rPr sz="1875" b="1">
                <a:solidFill>
                  <a:srgbClr val="000000"/>
                </a:solidFill>
                <a:latin typeface="Courier New"/>
                <a:ea typeface="Courier New"/>
                <a:cs typeface="Courier New"/>
              </a:rPr>
              <a:t>/connect</a:t>
            </a:r>
          </a:p>
          <a:p>
            <a:pPr algn="l">
              <a:defRPr sz="1875" b="1">
                <a:solidFill>
                  <a:srgbClr val="000000"/>
                </a:solidFill>
                <a:latin typeface="Courier New"/>
                <a:ea typeface="Courier New"/>
                <a:cs typeface="Courier New"/>
              </a:defRPr>
            </a:pPr>
            <a:r>
              <a:rPr sz="1875" b="1">
                <a:solidFill>
                  <a:srgbClr val="000000"/>
                </a:solidFill>
                <a:latin typeface="Courier New"/>
                <a:ea typeface="Courier New"/>
                <a:cs typeface="Courier New"/>
              </a:rPr>
              <a:t>/tasks</a:t>
            </a:r>
          </a:p>
          <a:p>
            <a:pPr algn="l">
              <a:defRPr sz="1875" b="1">
                <a:solidFill>
                  <a:srgbClr val="000000"/>
                </a:solidFill>
                <a:latin typeface="Courier New"/>
                <a:ea typeface="Courier New"/>
                <a:cs typeface="Courier New"/>
              </a:defRPr>
            </a:pPr>
            <a:r>
              <a:rPr sz="1875" b="1">
                <a:solidFill>
                  <a:srgbClr val="000000"/>
                </a:solidFill>
                <a:latin typeface="Courier New"/>
                <a:ea typeface="Courier New"/>
                <a:cs typeface="Courier New"/>
              </a:rPr>
              <a:t>/tasks/new</a:t>
            </a:r>
          </a:p>
          <a:p>
            <a:pPr algn="l">
              <a:defRPr sz="1875" b="1">
                <a:solidFill>
                  <a:srgbClr val="000000"/>
                </a:solidFill>
                <a:latin typeface="Courier New"/>
                <a:ea typeface="Courier New"/>
                <a:cs typeface="Courier New"/>
              </a:defRPr>
            </a:pPr>
            <a:r>
              <a:rPr sz="1875" b="1">
                <a:solidFill>
                  <a:srgbClr val="000000"/>
                </a:solidFill>
                <a:latin typeface="Courier New"/>
                <a:ea typeface="Courier New"/>
                <a:cs typeface="Courier New"/>
              </a:rPr>
              <a:t>/tasks/:taskId</a:t>
            </a:r>
          </a:p>
          <a:p>
            <a:pPr algn="l">
              <a:defRPr sz="1875" b="1">
                <a:solidFill>
                  <a:srgbClr val="000000"/>
                </a:solidFill>
                <a:latin typeface="Courier New"/>
                <a:ea typeface="Courier New"/>
                <a:cs typeface="Courier New"/>
              </a:defRPr>
            </a:pPr>
            <a:r>
              <a:rPr sz="1875" b="1">
                <a:solidFill>
                  <a:srgbClr val="000000"/>
                </a:solidFill>
                <a:latin typeface="Courier New"/>
                <a:ea typeface="Courier New"/>
                <a:cs typeface="Courier New"/>
              </a:rPr>
              <a:t>/tasks/:taskId/edit</a:t>
            </a:r>
          </a:p>
          <a:p>
            <a:pPr algn="l">
              <a:defRPr sz="1875" b="1">
                <a:solidFill>
                  <a:srgbClr val="000000"/>
                </a:solidFill>
                <a:latin typeface="Courier New"/>
                <a:ea typeface="Courier New"/>
                <a:cs typeface="Courier New"/>
              </a:defRPr>
            </a:pPr>
            <a:r>
              <a:rPr sz="1875" b="1">
                <a:solidFill>
                  <a:srgbClr val="000000"/>
                </a:solidFill>
                <a:latin typeface="Courier New"/>
                <a:ea typeface="Courier New"/>
                <a:cs typeface="Courier New"/>
              </a:rPr>
              <a:t>*</a:t>
            </a:r>
          </a:p>
        </p:txBody>
      </p:sp>
      <p:sp>
        <p:nvSpPr>
          <p:cNvPr id="11" name="routes-guard">
            <a:extLst>
              <a:ext uri="{FF2B5EF4-FFF2-40B4-BE49-F238E27FC236}">
                <a16:creationId xmlns:a16="http://schemas.microsoft.com/office/drawing/2014/main" id="{748C6064-D536-4CB8-A18E-494A79662618}"/>
              </a:ext>
            </a:extLst>
          </p:cNvPr>
          <p:cNvSpPr>
            <a:spLocks noGrp="1"/>
          </p:cNvSpPr>
          <p:nvPr/>
        </p:nvSpPr>
        <p:spPr>
          <a:xfrm>
            <a:off x="9429750" y="3333750"/>
            <a:ext cx="1905000" cy="857250"/>
          </a:xfrm>
          <a:prstGeom prst="rect">
            <a:avLst/>
          </a:prstGeom>
          <a:noFill/>
          <a:ln w="0">
            <a:noFill/>
            <a:prstDash val="solid"/>
          </a:ln>
        </p:spPr>
        <p:txBody>
          <a:bodyPr lIns="0" tIns="0" rIns="0" bIns="0" anchor="t">
            <a:normAutofit/>
          </a:bodyPr>
          <a:lstStyle/>
          <a:p>
            <a:pPr algn="l">
              <a:defRPr sz="1650" b="1">
                <a:solidFill>
                  <a:srgbClr val="7E22CE"/>
                </a:solidFill>
                <a:latin typeface="Helvetica Neue"/>
                <a:ea typeface="Helvetica Neue"/>
                <a:cs typeface="Helvetica Neue"/>
              </a:defRPr>
            </a:pPr>
            <a:r>
              <a:rPr sz="1650" b="1">
                <a:solidFill>
                  <a:srgbClr val="7E22CE"/>
                </a:solidFill>
                <a:latin typeface="Helvetica Neue"/>
                <a:ea typeface="Helvetica Neue"/>
                <a:cs typeface="Helvetica Neue"/>
              </a:rPr>
              <a:t>ProtectedRoute wraps all task routes.</a:t>
            </a:r>
          </a:p>
        </p:txBody>
      </p:sp>
      <p:sp>
        <p:nvSpPr>
          <p:cNvPr id="12" name="source-7">
            <a:extLst>
              <a:ext uri="{FF2B5EF4-FFF2-40B4-BE49-F238E27FC236}">
                <a16:creationId xmlns:a16="http://schemas.microsoft.com/office/drawing/2014/main" id="{70451041-0F9E-40E9-BC5C-160B7A489CE9}"/>
              </a:ext>
            </a:extLst>
          </p:cNvPr>
          <p:cNvSpPr>
            <a:spLocks noGrp="1"/>
          </p:cNvSpPr>
          <p:nvPr/>
        </p:nvSpPr>
        <p:spPr>
          <a:xfrm>
            <a:off x="400050" y="6334125"/>
            <a:ext cx="5143500" cy="190500"/>
          </a:xfrm>
          <a:prstGeom prst="rect">
            <a:avLst/>
          </a:prstGeom>
          <a:noFill/>
          <a:ln w="0">
            <a:noFill/>
            <a:prstDash val="solid"/>
          </a:ln>
        </p:spPr>
        <p:txBody>
          <a:bodyPr lIns="0" tIns="0" rIns="0" bIns="0" anchor="t">
            <a:normAutofit/>
          </a:bodyPr>
          <a:lstStyle/>
          <a:p>
            <a:pPr algn="l">
              <a:defRPr sz="975" b="0">
                <a:solidFill>
                  <a:srgbClr val="566176"/>
                </a:solidFill>
                <a:latin typeface="Helvetica Neue"/>
                <a:ea typeface="Helvetica Neue"/>
                <a:cs typeface="Helvetica Neue"/>
              </a:defRPr>
            </a:pPr>
            <a:r>
              <a:rPr sz="975" b="0">
                <a:solidFill>
                  <a:srgbClr val="566176"/>
                </a:solidFill>
                <a:latin typeface="Helvetica Neue"/>
                <a:ea typeface="Helvetica Neue"/>
                <a:cs typeface="Helvetica Neue"/>
              </a:rPr>
              <a:t>deepakbabel23/minitrack • mt_frontend_react</a:t>
            </a:r>
          </a:p>
        </p:txBody>
      </p:sp>
      <p:sp>
        <p:nvSpPr>
          <p:cNvPr id="13" name="slide-number-7">
            <a:extLst>
              <a:ext uri="{FF2B5EF4-FFF2-40B4-BE49-F238E27FC236}">
                <a16:creationId xmlns:a16="http://schemas.microsoft.com/office/drawing/2014/main" id="{AB5B402A-61BE-4AAC-A4C7-1FBF5D230A23}"/>
              </a:ext>
            </a:extLst>
          </p:cNvPr>
          <p:cNvSpPr>
            <a:spLocks noGrp="1"/>
          </p:cNvSpPr>
          <p:nvPr/>
        </p:nvSpPr>
        <p:spPr>
          <a:xfrm>
            <a:off x="11334750" y="6334125"/>
            <a:ext cx="457200" cy="190500"/>
          </a:xfrm>
          <a:prstGeom prst="rect">
            <a:avLst/>
          </a:prstGeom>
          <a:noFill/>
          <a:ln w="0">
            <a:noFill/>
            <a:prstDash val="solid"/>
          </a:ln>
        </p:spPr>
        <p:txBody>
          <a:bodyPr lIns="0" tIns="0" rIns="0" bIns="0" anchor="t">
            <a:normAutofit/>
          </a:bodyPr>
          <a:lstStyle/>
          <a:p>
            <a:pPr algn="r">
              <a:defRPr sz="1050" b="0">
                <a:solidFill>
                  <a:srgbClr val="566176"/>
                </a:solidFill>
                <a:latin typeface="Helvetica Neue"/>
                <a:ea typeface="Helvetica Neue"/>
                <a:cs typeface="Helvetica Neue"/>
              </a:defRPr>
            </a:pPr>
            <a:r>
              <a:rPr sz="1050" b="0">
                <a:solidFill>
                  <a:srgbClr val="566176"/>
                </a:solidFill>
                <a:latin typeface="Helvetica Neue"/>
                <a:ea typeface="Helvetica Neue"/>
                <a:cs typeface="Helvetica Neue"/>
              </a:rPr>
              <a:t>07</a:t>
            </a:r>
          </a:p>
        </p:txBody>
      </p:sp>
    </p:spTree>
    <p:extLst>
      <p:ext uri="{BB962C8B-B14F-4D97-AF65-F5344CB8AC3E}">
        <p14:creationId xmlns:p14="http://schemas.microsoft.com/office/powerpoint/2010/main" val="401162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972210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828977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7919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title-11">
            <a:extLst>
              <a:ext uri="{FF2B5EF4-FFF2-40B4-BE49-F238E27FC236}">
                <a16:creationId xmlns:a16="http://schemas.microsoft.com/office/drawing/2014/main" id="{88802320-D0B5-4A4F-8F46-A2BAB111AFED}"/>
              </a:ext>
            </a:extLst>
          </p:cNvPr>
          <p:cNvSpPr>
            <a:spLocks noGrp="1"/>
          </p:cNvSpPr>
          <p:nvPr/>
        </p:nvSpPr>
        <p:spPr>
          <a:xfrm>
            <a:off x="400050" y="323850"/>
            <a:ext cx="11049000" cy="742950"/>
          </a:xfrm>
          <a:prstGeom prst="rect">
            <a:avLst/>
          </a:prstGeom>
          <a:noFill/>
          <a:ln w="0">
            <a:noFill/>
            <a:prstDash val="solid"/>
          </a:ln>
        </p:spPr>
        <p:txBody>
          <a:bodyPr lIns="0" tIns="0" rIns="0" bIns="0" anchor="t">
            <a:normAutofit fontScale="73864"/>
          </a:bodyPr>
          <a:lstStyle/>
          <a:p>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Selective extraction made TaskListPage easier to navigate—not more fragmented</a:t>
            </a:r>
          </a:p>
        </p:txBody>
      </p:sp>
      <p:sp>
        <p:nvSpPr>
          <p:cNvPr id="2" name="slide-number-11">
            <a:extLst>
              <a:ext uri="{FF2B5EF4-FFF2-40B4-BE49-F238E27FC236}">
                <a16:creationId xmlns:a16="http://schemas.microsoft.com/office/drawing/2014/main" id="{081894D9-7E5D-444A-AF82-588B692E15D5}"/>
              </a:ext>
            </a:extLst>
          </p:cNvPr>
          <p:cNvSpPr>
            <a:spLocks noGrp="1"/>
          </p:cNvSpPr>
          <p:nvPr/>
        </p:nvSpPr>
        <p:spPr>
          <a:xfrm>
            <a:off x="11334750" y="6334125"/>
            <a:ext cx="457200" cy="190500"/>
          </a:xfrm>
          <a:prstGeom prst="rect">
            <a:avLst/>
          </a:prstGeom>
          <a:noFill/>
          <a:ln w="0">
            <a:noFill/>
            <a:prstDash val="solid"/>
          </a:ln>
        </p:spPr>
        <p:txBody>
          <a:bodyPr lIns="0" tIns="0" rIns="0" bIns="0" anchor="t">
            <a:normAutofit/>
          </a:bodyPr>
          <a:lstStyle/>
          <a:p>
            <a:pPr algn="r">
              <a:defRPr sz="1050" b="0">
                <a:solidFill>
                  <a:srgbClr val="566176"/>
                </a:solidFill>
                <a:latin typeface="Helvetica Neue"/>
                <a:ea typeface="Helvetica Neue"/>
                <a:cs typeface="Helvetica Neue"/>
              </a:defRPr>
            </a:pPr>
            <a:r>
              <a:rPr sz="1050" b="0">
                <a:solidFill>
                  <a:srgbClr val="566176"/>
                </a:solidFill>
                <a:latin typeface="Helvetica Neue"/>
                <a:ea typeface="Helvetica Neue"/>
                <a:cs typeface="Helvetica Neue"/>
              </a:rPr>
              <a:t>11</a:t>
            </a:r>
          </a:p>
        </p:txBody>
      </p:sp>
      <p:sp>
        <p:nvSpPr>
          <p:cNvPr id="3" name="extract-intro">
            <a:extLst>
              <a:ext uri="{FF2B5EF4-FFF2-40B4-BE49-F238E27FC236}">
                <a16:creationId xmlns:a16="http://schemas.microsoft.com/office/drawing/2014/main" id="{6FED7651-7266-4C10-B0B1-5AB91CA445AF}"/>
              </a:ext>
            </a:extLst>
          </p:cNvPr>
          <p:cNvSpPr>
            <a:spLocks noGrp="1"/>
          </p:cNvSpPr>
          <p:nvPr/>
        </p:nvSpPr>
        <p:spPr>
          <a:xfrm>
            <a:off x="400050" y="1095375"/>
            <a:ext cx="10477500" cy="457200"/>
          </a:xfrm>
          <a:prstGeom prst="rect">
            <a:avLst/>
          </a:prstGeom>
          <a:noFill/>
          <a:ln w="0">
            <a:noFill/>
            <a:prstDash val="solid"/>
          </a:ln>
        </p:spPr>
        <p:txBody>
          <a:bodyPr lIns="0" tIns="0" rIns="0" bIns="0" anchor="t">
            <a:normAutofit/>
          </a:bodyPr>
          <a:lstStyle/>
          <a:p>
            <a:pPr algn="l">
              <a:defRPr sz="1800" b="0">
                <a:solidFill>
                  <a:srgbClr val="566176"/>
                </a:solidFill>
                <a:latin typeface="Helvetica Neue"/>
                <a:ea typeface="Helvetica Neue"/>
                <a:cs typeface="Helvetica Neue"/>
              </a:defRPr>
            </a:pPr>
            <a:r>
              <a:rPr sz="1800" b="0">
                <a:solidFill>
                  <a:srgbClr val="566176"/>
                </a:solidFill>
                <a:latin typeface="Helvetica Neue"/>
                <a:ea typeface="Helvetica Neue"/>
                <a:cs typeface="Helvetica Neue"/>
              </a:rPr>
              <a:t>The proposal anticipated more components than the current feature set needs.</a:t>
            </a:r>
          </a:p>
        </p:txBody>
      </p:sp>
      <p:sp>
        <p:nvSpPr>
          <p:cNvPr id="4" name="proposed-panel">
            <a:extLst>
              <a:ext uri="{FF2B5EF4-FFF2-40B4-BE49-F238E27FC236}">
                <a16:creationId xmlns:a16="http://schemas.microsoft.com/office/drawing/2014/main" id="{00E2DBDB-9B3A-4E65-9962-8E4468D0093C}"/>
              </a:ext>
            </a:extLst>
          </p:cNvPr>
          <p:cNvSpPr>
            <a:spLocks noGrp="1"/>
          </p:cNvSpPr>
          <p:nvPr/>
        </p:nvSpPr>
        <p:spPr>
          <a:xfrm>
            <a:off x="400050" y="2000250"/>
            <a:ext cx="5334000" cy="3429000"/>
          </a:xfrm>
          <a:prstGeom prst="rect">
            <a:avLst/>
          </a:prstGeom>
          <a:solidFill>
            <a:srgbClr val="F5F6F8"/>
          </a:solidFill>
          <a:ln w="14288">
            <a:solidFill>
              <a:srgbClr val="B8BCC4"/>
            </a:solidFill>
            <a:prstDash val="solid"/>
          </a:ln>
        </p:spPr>
        <p:txBody>
          <a:bodyPr/>
          <a:lstStyle/>
          <a:p>
            <a:endParaRPr lang="en-US"/>
          </a:p>
        </p:txBody>
      </p:sp>
      <p:sp>
        <p:nvSpPr>
          <p:cNvPr id="5" name="proposed-heading">
            <a:extLst>
              <a:ext uri="{FF2B5EF4-FFF2-40B4-BE49-F238E27FC236}">
                <a16:creationId xmlns:a16="http://schemas.microsoft.com/office/drawing/2014/main" id="{A6D9769C-51CA-4206-8C69-001E5CD0564D}"/>
              </a:ext>
            </a:extLst>
          </p:cNvPr>
          <p:cNvSpPr>
            <a:spLocks noGrp="1"/>
          </p:cNvSpPr>
          <p:nvPr/>
        </p:nvSpPr>
        <p:spPr>
          <a:xfrm>
            <a:off x="685800" y="2305050"/>
            <a:ext cx="4476750" cy="428625"/>
          </a:xfrm>
          <a:prstGeom prst="rect">
            <a:avLst/>
          </a:prstGeom>
          <a:noFill/>
          <a:ln w="0">
            <a:noFill/>
            <a:prstDash val="solid"/>
          </a:ln>
        </p:spPr>
        <p:txBody>
          <a:bodyPr lIns="0" tIns="0" rIns="0" bIns="0" anchor="t">
            <a:normAutofit/>
          </a:bodyPr>
          <a:lstStyle/>
          <a:p>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Proposed</a:t>
            </a:r>
          </a:p>
        </p:txBody>
      </p:sp>
      <p:sp>
        <p:nvSpPr>
          <p:cNvPr id="6" name="bullet-dot-p1-320">
            <a:extLst>
              <a:ext uri="{FF2B5EF4-FFF2-40B4-BE49-F238E27FC236}">
                <a16:creationId xmlns:a16="http://schemas.microsoft.com/office/drawing/2014/main" id="{C67B0407-9B60-461F-B507-D0E495F09973}"/>
              </a:ext>
            </a:extLst>
          </p:cNvPr>
          <p:cNvSpPr>
            <a:spLocks noGrp="1"/>
          </p:cNvSpPr>
          <p:nvPr/>
        </p:nvSpPr>
        <p:spPr>
          <a:xfrm>
            <a:off x="704850" y="3133725"/>
            <a:ext cx="95250" cy="95250"/>
          </a:xfrm>
          <a:prstGeom prst="roundRect">
            <a:avLst>
              <a:gd name="adj" fmla="val 50000"/>
            </a:avLst>
          </a:prstGeom>
          <a:solidFill>
            <a:srgbClr val="3D8DFF"/>
          </a:solidFill>
          <a:ln w="14288">
            <a:solidFill>
              <a:srgbClr val="3D8DFF"/>
            </a:solidFill>
            <a:prstDash val="solid"/>
          </a:ln>
        </p:spPr>
        <p:txBody>
          <a:bodyPr/>
          <a:lstStyle/>
          <a:p>
            <a:endParaRPr lang="en-US"/>
          </a:p>
        </p:txBody>
      </p:sp>
      <p:sp>
        <p:nvSpPr>
          <p:cNvPr id="7" name="bullet-p1-320">
            <a:extLst>
              <a:ext uri="{FF2B5EF4-FFF2-40B4-BE49-F238E27FC236}">
                <a16:creationId xmlns:a16="http://schemas.microsoft.com/office/drawing/2014/main" id="{0C991719-856D-4075-8DD8-BEBA138124EF}"/>
              </a:ext>
            </a:extLst>
          </p:cNvPr>
          <p:cNvSpPr>
            <a:spLocks noGrp="1"/>
          </p:cNvSpPr>
          <p:nvPr/>
        </p:nvSpPr>
        <p:spPr>
          <a:xfrm>
            <a:off x="971550" y="3048000"/>
            <a:ext cx="10287000" cy="495300"/>
          </a:xfrm>
          <a:prstGeom prst="rect">
            <a:avLst/>
          </a:prstGeom>
          <a:noFill/>
          <a:ln w="0">
            <a:noFill/>
            <a:prstDash val="solid"/>
          </a:ln>
        </p:spPr>
        <p:txBody>
          <a:bodyPr lIns="0" tIns="0" rIns="0" bIns="0" anchor="t">
            <a:normAutofit/>
          </a:bodyPr>
          <a:lstStyle/>
          <a:p>
            <a:pPr algn="l">
              <a:defRPr sz="1725" b="0">
                <a:solidFill>
                  <a:srgbClr val="101828"/>
                </a:solidFill>
                <a:latin typeface="Helvetica Neue"/>
                <a:ea typeface="Helvetica Neue"/>
                <a:cs typeface="Helvetica Neue"/>
              </a:defRPr>
            </a:pPr>
            <a:r>
              <a:rPr sz="1725" b="0">
                <a:solidFill>
                  <a:srgbClr val="101828"/>
                </a:solidFill>
                <a:latin typeface="Helvetica Neue"/>
                <a:ea typeface="Helvetica Neue"/>
                <a:cs typeface="Helvetica Neue"/>
              </a:rPr>
              <a:t>AppHeader component</a:t>
            </a:r>
          </a:p>
        </p:txBody>
      </p:sp>
      <p:sp>
        <p:nvSpPr>
          <p:cNvPr id="8" name="bullet-dot-p2-378">
            <a:extLst>
              <a:ext uri="{FF2B5EF4-FFF2-40B4-BE49-F238E27FC236}">
                <a16:creationId xmlns:a16="http://schemas.microsoft.com/office/drawing/2014/main" id="{2C1B7BF4-5BAA-4679-AD54-098016493F6D}"/>
              </a:ext>
            </a:extLst>
          </p:cNvPr>
          <p:cNvSpPr>
            <a:spLocks noGrp="1"/>
          </p:cNvSpPr>
          <p:nvPr/>
        </p:nvSpPr>
        <p:spPr>
          <a:xfrm>
            <a:off x="704850" y="3686175"/>
            <a:ext cx="95250" cy="95250"/>
          </a:xfrm>
          <a:prstGeom prst="roundRect">
            <a:avLst>
              <a:gd name="adj" fmla="val 50000"/>
            </a:avLst>
          </a:prstGeom>
          <a:solidFill>
            <a:srgbClr val="3D8DFF"/>
          </a:solidFill>
          <a:ln w="14288">
            <a:solidFill>
              <a:srgbClr val="3D8DFF"/>
            </a:solidFill>
            <a:prstDash val="solid"/>
          </a:ln>
        </p:spPr>
        <p:txBody>
          <a:bodyPr/>
          <a:lstStyle/>
          <a:p>
            <a:endParaRPr lang="en-US"/>
          </a:p>
        </p:txBody>
      </p:sp>
      <p:sp>
        <p:nvSpPr>
          <p:cNvPr id="9" name="bullet-p2-378">
            <a:extLst>
              <a:ext uri="{FF2B5EF4-FFF2-40B4-BE49-F238E27FC236}">
                <a16:creationId xmlns:a16="http://schemas.microsoft.com/office/drawing/2014/main" id="{C99DA69D-1FFB-4793-9193-3CF385E77714}"/>
              </a:ext>
            </a:extLst>
          </p:cNvPr>
          <p:cNvSpPr>
            <a:spLocks noGrp="1"/>
          </p:cNvSpPr>
          <p:nvPr/>
        </p:nvSpPr>
        <p:spPr>
          <a:xfrm>
            <a:off x="971550" y="3600450"/>
            <a:ext cx="10287000" cy="495300"/>
          </a:xfrm>
          <a:prstGeom prst="rect">
            <a:avLst/>
          </a:prstGeom>
          <a:noFill/>
          <a:ln w="0">
            <a:noFill/>
            <a:prstDash val="solid"/>
          </a:ln>
        </p:spPr>
        <p:txBody>
          <a:bodyPr lIns="0" tIns="0" rIns="0" bIns="0" anchor="t">
            <a:normAutofit/>
          </a:bodyPr>
          <a:lstStyle/>
          <a:p>
            <a:pPr algn="l">
              <a:defRPr sz="1725" b="0">
                <a:solidFill>
                  <a:srgbClr val="101828"/>
                </a:solidFill>
                <a:latin typeface="Helvetica Neue"/>
                <a:ea typeface="Helvetica Neue"/>
                <a:cs typeface="Helvetica Neue"/>
              </a:defRPr>
            </a:pPr>
            <a:r>
              <a:rPr sz="1725" b="0">
                <a:solidFill>
                  <a:srgbClr val="101828"/>
                </a:solidFill>
                <a:latin typeface="Helvetica Neue"/>
                <a:ea typeface="Helvetica Neue"/>
                <a:cs typeface="Helvetica Neue"/>
              </a:rPr>
              <a:t>FilterBar component</a:t>
            </a:r>
          </a:p>
        </p:txBody>
      </p:sp>
      <p:sp>
        <p:nvSpPr>
          <p:cNvPr id="10" name="bullet-dot-p3-436">
            <a:extLst>
              <a:ext uri="{FF2B5EF4-FFF2-40B4-BE49-F238E27FC236}">
                <a16:creationId xmlns:a16="http://schemas.microsoft.com/office/drawing/2014/main" id="{8F40EE83-0E2A-4003-B0B2-E29E7CC92E52}"/>
              </a:ext>
            </a:extLst>
          </p:cNvPr>
          <p:cNvSpPr>
            <a:spLocks noGrp="1"/>
          </p:cNvSpPr>
          <p:nvPr/>
        </p:nvSpPr>
        <p:spPr>
          <a:xfrm>
            <a:off x="704850" y="4238625"/>
            <a:ext cx="95250" cy="95250"/>
          </a:xfrm>
          <a:prstGeom prst="roundRect">
            <a:avLst>
              <a:gd name="adj" fmla="val 50000"/>
            </a:avLst>
          </a:prstGeom>
          <a:solidFill>
            <a:srgbClr val="3D8DFF"/>
          </a:solidFill>
          <a:ln w="14288">
            <a:solidFill>
              <a:srgbClr val="3D8DFF"/>
            </a:solidFill>
            <a:prstDash val="solid"/>
          </a:ln>
        </p:spPr>
        <p:txBody>
          <a:bodyPr/>
          <a:lstStyle/>
          <a:p>
            <a:endParaRPr lang="en-US"/>
          </a:p>
        </p:txBody>
      </p:sp>
      <p:sp>
        <p:nvSpPr>
          <p:cNvPr id="11" name="bullet-p3-436">
            <a:extLst>
              <a:ext uri="{FF2B5EF4-FFF2-40B4-BE49-F238E27FC236}">
                <a16:creationId xmlns:a16="http://schemas.microsoft.com/office/drawing/2014/main" id="{15672F1B-34B4-49CD-B7BF-AB4625CDA5FF}"/>
              </a:ext>
            </a:extLst>
          </p:cNvPr>
          <p:cNvSpPr>
            <a:spLocks noGrp="1"/>
          </p:cNvSpPr>
          <p:nvPr/>
        </p:nvSpPr>
        <p:spPr>
          <a:xfrm>
            <a:off x="971550" y="4152900"/>
            <a:ext cx="10287000" cy="495300"/>
          </a:xfrm>
          <a:prstGeom prst="rect">
            <a:avLst/>
          </a:prstGeom>
          <a:noFill/>
          <a:ln w="0">
            <a:noFill/>
            <a:prstDash val="solid"/>
          </a:ln>
        </p:spPr>
        <p:txBody>
          <a:bodyPr lIns="0" tIns="0" rIns="0" bIns="0" anchor="t">
            <a:normAutofit/>
          </a:bodyPr>
          <a:lstStyle/>
          <a:p>
            <a:pPr algn="l">
              <a:defRPr sz="1725" b="0">
                <a:solidFill>
                  <a:srgbClr val="101828"/>
                </a:solidFill>
                <a:latin typeface="Helvetica Neue"/>
                <a:ea typeface="Helvetica Neue"/>
                <a:cs typeface="Helvetica Neue"/>
              </a:defRPr>
            </a:pPr>
            <a:r>
              <a:rPr sz="1725" b="0">
                <a:solidFill>
                  <a:srgbClr val="101828"/>
                </a:solidFill>
                <a:latin typeface="Helvetica Neue"/>
                <a:ea typeface="Helvetica Neue"/>
                <a:cs typeface="Helvetica Neue"/>
              </a:rPr>
              <a:t>TaskList wrapper component</a:t>
            </a:r>
          </a:p>
        </p:txBody>
      </p:sp>
      <p:sp>
        <p:nvSpPr>
          <p:cNvPr id="12" name="bullet-dot-p4-494">
            <a:extLst>
              <a:ext uri="{FF2B5EF4-FFF2-40B4-BE49-F238E27FC236}">
                <a16:creationId xmlns:a16="http://schemas.microsoft.com/office/drawing/2014/main" id="{200B902B-EFDC-48A1-90E0-D806A3251A01}"/>
              </a:ext>
            </a:extLst>
          </p:cNvPr>
          <p:cNvSpPr>
            <a:spLocks noGrp="1"/>
          </p:cNvSpPr>
          <p:nvPr/>
        </p:nvSpPr>
        <p:spPr>
          <a:xfrm>
            <a:off x="704850" y="4791075"/>
            <a:ext cx="95250" cy="95250"/>
          </a:xfrm>
          <a:prstGeom prst="roundRect">
            <a:avLst>
              <a:gd name="adj" fmla="val 50000"/>
            </a:avLst>
          </a:prstGeom>
          <a:solidFill>
            <a:srgbClr val="3D8DFF"/>
          </a:solidFill>
          <a:ln w="14288">
            <a:solidFill>
              <a:srgbClr val="3D8DFF"/>
            </a:solidFill>
            <a:prstDash val="solid"/>
          </a:ln>
        </p:spPr>
        <p:txBody>
          <a:bodyPr/>
          <a:lstStyle/>
          <a:p>
            <a:endParaRPr lang="en-US"/>
          </a:p>
        </p:txBody>
      </p:sp>
      <p:sp>
        <p:nvSpPr>
          <p:cNvPr id="13" name="bullet-p4-494">
            <a:extLst>
              <a:ext uri="{FF2B5EF4-FFF2-40B4-BE49-F238E27FC236}">
                <a16:creationId xmlns:a16="http://schemas.microsoft.com/office/drawing/2014/main" id="{C0AA821B-BEF9-4536-AA9A-49322B1084CB}"/>
              </a:ext>
            </a:extLst>
          </p:cNvPr>
          <p:cNvSpPr>
            <a:spLocks noGrp="1"/>
          </p:cNvSpPr>
          <p:nvPr/>
        </p:nvSpPr>
        <p:spPr>
          <a:xfrm>
            <a:off x="971550" y="4705350"/>
            <a:ext cx="10287000" cy="495300"/>
          </a:xfrm>
          <a:prstGeom prst="rect">
            <a:avLst/>
          </a:prstGeom>
          <a:noFill/>
          <a:ln w="0">
            <a:noFill/>
            <a:prstDash val="solid"/>
          </a:ln>
        </p:spPr>
        <p:txBody>
          <a:bodyPr lIns="0" tIns="0" rIns="0" bIns="0" anchor="t">
            <a:normAutofit/>
          </a:bodyPr>
          <a:lstStyle/>
          <a:p>
            <a:pPr algn="l">
              <a:defRPr sz="1725" b="0">
                <a:solidFill>
                  <a:srgbClr val="101828"/>
                </a:solidFill>
                <a:latin typeface="Helvetica Neue"/>
                <a:ea typeface="Helvetica Neue"/>
                <a:cs typeface="Helvetica Neue"/>
              </a:defRPr>
            </a:pPr>
            <a:r>
              <a:rPr sz="1725" b="0">
                <a:solidFill>
                  <a:srgbClr val="101828"/>
                </a:solidFill>
                <a:latin typeface="Helvetica Neue"/>
                <a:ea typeface="Helvetica Neue"/>
                <a:cs typeface="Helvetica Neue"/>
              </a:rPr>
              <a:t>LoadMoreButton component</a:t>
            </a:r>
          </a:p>
        </p:txBody>
      </p:sp>
      <p:sp>
        <p:nvSpPr>
          <p:cNvPr id="14" name="actual-panel">
            <a:extLst>
              <a:ext uri="{FF2B5EF4-FFF2-40B4-BE49-F238E27FC236}">
                <a16:creationId xmlns:a16="http://schemas.microsoft.com/office/drawing/2014/main" id="{A63C0626-5067-41FB-81E2-B1558557E2AA}"/>
              </a:ext>
            </a:extLst>
          </p:cNvPr>
          <p:cNvSpPr>
            <a:spLocks noGrp="1"/>
          </p:cNvSpPr>
          <p:nvPr/>
        </p:nvSpPr>
        <p:spPr>
          <a:xfrm>
            <a:off x="6191250" y="2000250"/>
            <a:ext cx="5600700" cy="3429000"/>
          </a:xfrm>
          <a:prstGeom prst="rect">
            <a:avLst/>
          </a:prstGeom>
          <a:solidFill>
            <a:srgbClr val="F0FDF4"/>
          </a:solidFill>
          <a:ln w="14288">
            <a:solidFill>
              <a:srgbClr val="15803D"/>
            </a:solidFill>
            <a:prstDash val="solid"/>
          </a:ln>
        </p:spPr>
        <p:txBody>
          <a:bodyPr/>
          <a:lstStyle/>
          <a:p>
            <a:endParaRPr lang="en-US"/>
          </a:p>
        </p:txBody>
      </p:sp>
      <p:sp>
        <p:nvSpPr>
          <p:cNvPr id="15" name="actual-heading">
            <a:extLst>
              <a:ext uri="{FF2B5EF4-FFF2-40B4-BE49-F238E27FC236}">
                <a16:creationId xmlns:a16="http://schemas.microsoft.com/office/drawing/2014/main" id="{5E50EC96-FFC8-4F2D-B42F-3DBFCC167D47}"/>
              </a:ext>
            </a:extLst>
          </p:cNvPr>
          <p:cNvSpPr>
            <a:spLocks noGrp="1"/>
          </p:cNvSpPr>
          <p:nvPr/>
        </p:nvSpPr>
        <p:spPr>
          <a:xfrm>
            <a:off x="6477000" y="2305050"/>
            <a:ext cx="4762500" cy="428625"/>
          </a:xfrm>
          <a:prstGeom prst="rect">
            <a:avLst/>
          </a:prstGeom>
          <a:noFill/>
          <a:ln w="0">
            <a:noFill/>
            <a:prstDash val="solid"/>
          </a:ln>
        </p:spPr>
        <p:txBody>
          <a:bodyPr lIns="0" tIns="0" rIns="0" bIns="0" anchor="t">
            <a:normAutofit/>
          </a:bodyPr>
          <a:lstStyle/>
          <a:p>
            <a:pPr algn="l">
              <a:defRPr sz="2250" b="1">
                <a:solidFill>
                  <a:srgbClr val="15803D"/>
                </a:solidFill>
                <a:latin typeface="Helvetica Neue"/>
                <a:ea typeface="Helvetica Neue"/>
                <a:cs typeface="Helvetica Neue"/>
              </a:defRPr>
            </a:pPr>
            <a:r>
              <a:rPr sz="2250" b="1">
                <a:solidFill>
                  <a:srgbClr val="15803D"/>
                </a:solidFill>
                <a:latin typeface="Helvetica Neue"/>
                <a:ea typeface="Helvetica Neue"/>
                <a:cs typeface="Helvetica Neue"/>
              </a:rPr>
              <a:t>Implemented</a:t>
            </a:r>
          </a:p>
        </p:txBody>
      </p:sp>
      <p:sp>
        <p:nvSpPr>
          <p:cNvPr id="16" name="actual-copy">
            <a:extLst>
              <a:ext uri="{FF2B5EF4-FFF2-40B4-BE49-F238E27FC236}">
                <a16:creationId xmlns:a16="http://schemas.microsoft.com/office/drawing/2014/main" id="{3DD60871-5ED2-4B47-B9BE-21084BD446D2}"/>
              </a:ext>
            </a:extLst>
          </p:cNvPr>
          <p:cNvSpPr>
            <a:spLocks noGrp="1"/>
          </p:cNvSpPr>
          <p:nvPr/>
        </p:nvSpPr>
        <p:spPr>
          <a:xfrm>
            <a:off x="6477000" y="3048000"/>
            <a:ext cx="4762500" cy="1809750"/>
          </a:xfrm>
          <a:prstGeom prst="rect">
            <a:avLst/>
          </a:prstGeom>
          <a:noFill/>
          <a:ln w="0">
            <a:noFill/>
            <a:prstDash val="solid"/>
          </a:ln>
        </p:spPr>
        <p:txBody>
          <a:bodyPr lIns="0" tIns="0" rIns="0" bIns="0" anchor="t">
            <a:normAutofit/>
          </a:bodyPr>
          <a:lstStyle/>
          <a:p>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Header, filters and list markup remain inside TaskListPage.</a:t>
            </a:r>
          </a:p>
          <a:p>
            <a:endParaRPr sz="1800" b="0">
              <a:solidFill>
                <a:srgbClr val="000000"/>
              </a:solidFill>
              <a:latin typeface="Helvetica Neue"/>
              <a:ea typeface="Helvetica Neue"/>
              <a:cs typeface="Helvetica Neue"/>
            </a:endParaRPr>
          </a:p>
          <a:p>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Reusable behavior is extracted into TaskCard, ErrorMessage, ConfirmDialog, Button and useFlash.</a:t>
            </a:r>
          </a:p>
        </p:txBody>
      </p:sp>
      <p:sp>
        <p:nvSpPr>
          <p:cNvPr id="17" name="actual-rule">
            <a:extLst>
              <a:ext uri="{FF2B5EF4-FFF2-40B4-BE49-F238E27FC236}">
                <a16:creationId xmlns:a16="http://schemas.microsoft.com/office/drawing/2014/main" id="{6F98C046-4FE1-4420-AD51-A067ACF41FF1}"/>
              </a:ext>
            </a:extLst>
          </p:cNvPr>
          <p:cNvSpPr>
            <a:spLocks noGrp="1"/>
          </p:cNvSpPr>
          <p:nvPr/>
        </p:nvSpPr>
        <p:spPr>
          <a:xfrm>
            <a:off x="6477000" y="4905375"/>
            <a:ext cx="4762500" cy="361950"/>
          </a:xfrm>
          <a:prstGeom prst="rect">
            <a:avLst/>
          </a:prstGeom>
          <a:noFill/>
          <a:ln w="0">
            <a:noFill/>
            <a:prstDash val="solid"/>
          </a:ln>
        </p:spPr>
        <p:txBody>
          <a:bodyPr lIns="0" tIns="0" rIns="0" bIns="0" anchor="t">
            <a:normAutofit/>
          </a:bodyPr>
          <a:lstStyle/>
          <a:p>
            <a:pPr algn="l">
              <a:defRPr sz="1650" b="1">
                <a:solidFill>
                  <a:srgbClr val="15803D"/>
                </a:solidFill>
                <a:latin typeface="Helvetica Neue"/>
                <a:ea typeface="Helvetica Neue"/>
                <a:cs typeface="Helvetica Neue"/>
              </a:defRPr>
            </a:pPr>
            <a:r>
              <a:rPr sz="1650" b="1">
                <a:solidFill>
                  <a:srgbClr val="15803D"/>
                </a:solidFill>
                <a:latin typeface="Helvetica Neue"/>
                <a:ea typeface="Helvetica Neue"/>
                <a:cs typeface="Helvetica Neue"/>
              </a:rPr>
              <a:t>Extract on reuse or complexity—not by default.</a:t>
            </a:r>
          </a:p>
        </p:txBody>
      </p:sp>
      <p:sp>
        <p:nvSpPr>
          <p:cNvPr id="18" name="source-11">
            <a:extLst>
              <a:ext uri="{FF2B5EF4-FFF2-40B4-BE49-F238E27FC236}">
                <a16:creationId xmlns:a16="http://schemas.microsoft.com/office/drawing/2014/main" id="{5B9CA51B-FEC3-4BAF-9647-97B22F6C1835}"/>
              </a:ext>
            </a:extLst>
          </p:cNvPr>
          <p:cNvSpPr>
            <a:spLocks noGrp="1"/>
          </p:cNvSpPr>
          <p:nvPr/>
        </p:nvSpPr>
        <p:spPr>
          <a:xfrm>
            <a:off x="400050" y="6334125"/>
            <a:ext cx="5143500" cy="190500"/>
          </a:xfrm>
          <a:prstGeom prst="rect">
            <a:avLst/>
          </a:prstGeom>
          <a:noFill/>
          <a:ln w="0">
            <a:noFill/>
            <a:prstDash val="solid"/>
          </a:ln>
        </p:spPr>
        <p:txBody>
          <a:bodyPr lIns="0" tIns="0" rIns="0" bIns="0" anchor="t">
            <a:normAutofit/>
          </a:bodyPr>
          <a:lstStyle/>
          <a:p>
            <a:pPr algn="l">
              <a:defRPr sz="975" b="0">
                <a:solidFill>
                  <a:srgbClr val="566176"/>
                </a:solidFill>
                <a:latin typeface="Helvetica Neue"/>
                <a:ea typeface="Helvetica Neue"/>
                <a:cs typeface="Helvetica Neue"/>
              </a:defRPr>
            </a:pPr>
            <a:r>
              <a:rPr sz="975" b="0">
                <a:solidFill>
                  <a:srgbClr val="566176"/>
                </a:solidFill>
                <a:latin typeface="Helvetica Neue"/>
                <a:ea typeface="Helvetica Neue"/>
                <a:cs typeface="Helvetica Neue"/>
              </a:rPr>
              <a:t>deepakbabel23/minitrack • mt_frontend_react</a:t>
            </a:r>
          </a:p>
        </p:txBody>
      </p:sp>
      <p:sp>
        <p:nvSpPr>
          <p:cNvPr id="19" name="slide-number-11">
            <a:extLst>
              <a:ext uri="{FF2B5EF4-FFF2-40B4-BE49-F238E27FC236}">
                <a16:creationId xmlns:a16="http://schemas.microsoft.com/office/drawing/2014/main" id="{111719F9-07EB-470C-A019-09E85F90DDE3}"/>
              </a:ext>
            </a:extLst>
          </p:cNvPr>
          <p:cNvSpPr>
            <a:spLocks noGrp="1"/>
          </p:cNvSpPr>
          <p:nvPr/>
        </p:nvSpPr>
        <p:spPr>
          <a:xfrm>
            <a:off x="11334750" y="6334125"/>
            <a:ext cx="457200" cy="190500"/>
          </a:xfrm>
          <a:prstGeom prst="rect">
            <a:avLst/>
          </a:prstGeom>
          <a:noFill/>
          <a:ln w="0">
            <a:noFill/>
            <a:prstDash val="solid"/>
          </a:ln>
        </p:spPr>
        <p:txBody>
          <a:bodyPr lIns="0" tIns="0" rIns="0" bIns="0" anchor="t">
            <a:normAutofit/>
          </a:bodyPr>
          <a:lstStyle/>
          <a:p>
            <a:pPr algn="r">
              <a:defRPr sz="1050" b="0">
                <a:solidFill>
                  <a:srgbClr val="566176"/>
                </a:solidFill>
                <a:latin typeface="Helvetica Neue"/>
                <a:ea typeface="Helvetica Neue"/>
                <a:cs typeface="Helvetica Neue"/>
              </a:defRPr>
            </a:pPr>
            <a:r>
              <a:rPr sz="1050" b="0">
                <a:solidFill>
                  <a:srgbClr val="566176"/>
                </a:solidFill>
                <a:latin typeface="Helvetica Neue"/>
                <a:ea typeface="Helvetica Neue"/>
                <a:cs typeface="Helvetica Neue"/>
              </a:rPr>
              <a:t>11</a:t>
            </a:r>
          </a:p>
        </p:txBody>
      </p:sp>
    </p:spTree>
    <p:extLst>
      <p:ext uri="{BB962C8B-B14F-4D97-AF65-F5344CB8AC3E}">
        <p14:creationId xmlns:p14="http://schemas.microsoft.com/office/powerpoint/2010/main" val="1139353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015420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288516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itle-14">
            <a:extLst>
              <a:ext uri="{FF2B5EF4-FFF2-40B4-BE49-F238E27FC236}">
                <a16:creationId xmlns:a16="http://schemas.microsoft.com/office/drawing/2014/main" id="{6D780387-C31B-447F-8CC8-4E0113E00749}"/>
              </a:ext>
            </a:extLst>
          </p:cNvPr>
          <p:cNvSpPr>
            <a:spLocks noGrp="1"/>
          </p:cNvSpPr>
          <p:nvPr/>
        </p:nvSpPr>
        <p:spPr>
          <a:xfrm>
            <a:off x="400050" y="323850"/>
            <a:ext cx="11049000" cy="742950"/>
          </a:xfrm>
          <a:prstGeom prst="rect">
            <a:avLst/>
          </a:prstGeom>
          <a:noFill/>
          <a:ln w="0">
            <a:noFill/>
            <a:prstDash val="solid"/>
          </a:ln>
        </p:spPr>
        <p:txBody>
          <a:bodyPr lIns="0" tIns="0" rIns="0" bIns="0" anchor="t">
            <a:normAutofit fontScale="73864"/>
          </a:bodyPr>
          <a:lstStyle/>
          <a:p>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The finished frontend includes verification and learning assets—not only runtime code</a:t>
            </a:r>
          </a:p>
        </p:txBody>
      </p:sp>
      <p:sp>
        <p:nvSpPr>
          <p:cNvPr id="2" name="slide-number-14">
            <a:extLst>
              <a:ext uri="{FF2B5EF4-FFF2-40B4-BE49-F238E27FC236}">
                <a16:creationId xmlns:a16="http://schemas.microsoft.com/office/drawing/2014/main" id="{C5B44DCC-F378-45D0-A4CB-232C83950590}"/>
              </a:ext>
            </a:extLst>
          </p:cNvPr>
          <p:cNvSpPr>
            <a:spLocks noGrp="1"/>
          </p:cNvSpPr>
          <p:nvPr/>
        </p:nvSpPr>
        <p:spPr>
          <a:xfrm>
            <a:off x="11334750" y="6334125"/>
            <a:ext cx="457200" cy="190500"/>
          </a:xfrm>
          <a:prstGeom prst="rect">
            <a:avLst/>
          </a:prstGeom>
          <a:noFill/>
          <a:ln w="0">
            <a:noFill/>
            <a:prstDash val="solid"/>
          </a:ln>
        </p:spPr>
        <p:txBody>
          <a:bodyPr lIns="0" tIns="0" rIns="0" bIns="0" anchor="t">
            <a:normAutofit/>
          </a:bodyPr>
          <a:lstStyle/>
          <a:p>
            <a:pPr algn="r">
              <a:defRPr sz="1050" b="0">
                <a:solidFill>
                  <a:srgbClr val="566176"/>
                </a:solidFill>
                <a:latin typeface="Helvetica Neue"/>
                <a:ea typeface="Helvetica Neue"/>
                <a:cs typeface="Helvetica Neue"/>
              </a:defRPr>
            </a:pPr>
            <a:r>
              <a:rPr sz="1050" b="0">
                <a:solidFill>
                  <a:srgbClr val="566176"/>
                </a:solidFill>
                <a:latin typeface="Helvetica Neue"/>
                <a:ea typeface="Helvetica Neue"/>
                <a:cs typeface="Helvetica Neue"/>
              </a:rPr>
              <a:t>14</a:t>
            </a:r>
          </a:p>
        </p:txBody>
      </p:sp>
      <p:sp>
        <p:nvSpPr>
          <p:cNvPr id="3" name="quality-intro">
            <a:extLst>
              <a:ext uri="{FF2B5EF4-FFF2-40B4-BE49-F238E27FC236}">
                <a16:creationId xmlns:a16="http://schemas.microsoft.com/office/drawing/2014/main" id="{833DA91D-7738-4124-B43C-D3DFE3469CC1}"/>
              </a:ext>
            </a:extLst>
          </p:cNvPr>
          <p:cNvSpPr>
            <a:spLocks noGrp="1"/>
          </p:cNvSpPr>
          <p:nvPr/>
        </p:nvSpPr>
        <p:spPr>
          <a:xfrm>
            <a:off x="400050" y="1085850"/>
            <a:ext cx="10763250" cy="523875"/>
          </a:xfrm>
          <a:prstGeom prst="rect">
            <a:avLst/>
          </a:prstGeom>
          <a:noFill/>
          <a:ln w="0">
            <a:noFill/>
            <a:prstDash val="solid"/>
          </a:ln>
        </p:spPr>
        <p:txBody>
          <a:bodyPr lIns="0" tIns="0" rIns="0" bIns="0" anchor="t">
            <a:normAutofit/>
          </a:bodyPr>
          <a:lstStyle/>
          <a:p>
            <a:pPr algn="l">
              <a:defRPr sz="1800" b="0">
                <a:solidFill>
                  <a:srgbClr val="566176"/>
                </a:solidFill>
                <a:latin typeface="Helvetica Neue"/>
                <a:ea typeface="Helvetica Neue"/>
                <a:cs typeface="Helvetica Neue"/>
              </a:defRPr>
            </a:pPr>
            <a:r>
              <a:rPr sz="1800" b="0">
                <a:solidFill>
                  <a:srgbClr val="566176"/>
                </a:solidFill>
                <a:latin typeface="Helvetica Neue"/>
                <a:ea typeface="Helvetica Neue"/>
                <a:cs typeface="Helvetica Neue"/>
              </a:rPr>
              <a:t>The repository evolved into a training-quality implementation with executable checks and written guidance.</a:t>
            </a:r>
          </a:p>
        </p:txBody>
      </p:sp>
      <p:sp>
        <p:nvSpPr>
          <p:cNvPr id="4" name="quality-box-0">
            <a:extLst>
              <a:ext uri="{FF2B5EF4-FFF2-40B4-BE49-F238E27FC236}">
                <a16:creationId xmlns:a16="http://schemas.microsoft.com/office/drawing/2014/main" id="{91CE507B-9570-4E5E-BC8C-6DF4987C7783}"/>
              </a:ext>
            </a:extLst>
          </p:cNvPr>
          <p:cNvSpPr>
            <a:spLocks noGrp="1"/>
          </p:cNvSpPr>
          <p:nvPr/>
        </p:nvSpPr>
        <p:spPr>
          <a:xfrm>
            <a:off x="400050" y="2095500"/>
            <a:ext cx="5334000" cy="1466850"/>
          </a:xfrm>
          <a:prstGeom prst="rect">
            <a:avLst/>
          </a:prstGeom>
          <a:solidFill>
            <a:srgbClr val="F0FDF4"/>
          </a:solidFill>
          <a:ln w="14288">
            <a:solidFill>
              <a:srgbClr val="15803D"/>
            </a:solidFill>
            <a:prstDash val="solid"/>
          </a:ln>
        </p:spPr>
        <p:txBody>
          <a:bodyPr/>
          <a:lstStyle/>
          <a:p>
            <a:endParaRPr lang="en-US"/>
          </a:p>
        </p:txBody>
      </p:sp>
      <p:sp>
        <p:nvSpPr>
          <p:cNvPr id="5" name="quality-title-0">
            <a:extLst>
              <a:ext uri="{FF2B5EF4-FFF2-40B4-BE49-F238E27FC236}">
                <a16:creationId xmlns:a16="http://schemas.microsoft.com/office/drawing/2014/main" id="{0836CD67-7B37-4466-B7D8-4C83BC691055}"/>
              </a:ext>
            </a:extLst>
          </p:cNvPr>
          <p:cNvSpPr>
            <a:spLocks noGrp="1"/>
          </p:cNvSpPr>
          <p:nvPr/>
        </p:nvSpPr>
        <p:spPr>
          <a:xfrm>
            <a:off x="628650" y="2324100"/>
            <a:ext cx="4762500" cy="361950"/>
          </a:xfrm>
          <a:prstGeom prst="rect">
            <a:avLst/>
          </a:prstGeom>
          <a:noFill/>
          <a:ln w="0">
            <a:noFill/>
            <a:prstDash val="solid"/>
          </a:ln>
        </p:spPr>
        <p:txBody>
          <a:bodyPr lIns="0" tIns="0" rIns="0" bIns="0" anchor="t">
            <a:normAutofit/>
          </a:bodyPr>
          <a:lstStyle/>
          <a:p>
            <a:pPr algn="l">
              <a:defRPr sz="2025" b="1">
                <a:solidFill>
                  <a:srgbClr val="15803D"/>
                </a:solidFill>
                <a:latin typeface="Helvetica Neue"/>
                <a:ea typeface="Helvetica Neue"/>
                <a:cs typeface="Helvetica Neue"/>
              </a:defRPr>
            </a:pPr>
            <a:r>
              <a:rPr sz="2025" b="1">
                <a:solidFill>
                  <a:srgbClr val="15803D"/>
                </a:solidFill>
                <a:latin typeface="Helvetica Neue"/>
                <a:ea typeface="Helvetica Neue"/>
                <a:cs typeface="Helvetica Neue"/>
              </a:rPr>
              <a:t>Component tests</a:t>
            </a:r>
          </a:p>
        </p:txBody>
      </p:sp>
      <p:sp>
        <p:nvSpPr>
          <p:cNvPr id="6" name="quality-body-0">
            <a:extLst>
              <a:ext uri="{FF2B5EF4-FFF2-40B4-BE49-F238E27FC236}">
                <a16:creationId xmlns:a16="http://schemas.microsoft.com/office/drawing/2014/main" id="{BD4FF3C4-4547-4100-84E1-F8E84E9B3F6F}"/>
              </a:ext>
            </a:extLst>
          </p:cNvPr>
          <p:cNvSpPr>
            <a:spLocks noGrp="1"/>
          </p:cNvSpPr>
          <p:nvPr/>
        </p:nvSpPr>
        <p:spPr>
          <a:xfrm>
            <a:off x="628650" y="2819400"/>
            <a:ext cx="4762500" cy="552450"/>
          </a:xfrm>
          <a:prstGeom prst="rect">
            <a:avLst/>
          </a:prstGeom>
          <a:noFill/>
          <a:ln w="0">
            <a:noFill/>
            <a:prstDash val="solid"/>
          </a:ln>
        </p:spPr>
        <p:txBody>
          <a:bodyPr lIns="0" tIns="0" rIns="0" bIns="0" anchor="t">
            <a:normAutofit/>
          </a:bodyPr>
          <a:lstStyle/>
          <a:p>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ConnectPage, TaskListPage, TaskDetailPage and TaskFormPage</a:t>
            </a:r>
          </a:p>
        </p:txBody>
      </p:sp>
      <p:sp>
        <p:nvSpPr>
          <p:cNvPr id="7" name="quality-box-1">
            <a:extLst>
              <a:ext uri="{FF2B5EF4-FFF2-40B4-BE49-F238E27FC236}">
                <a16:creationId xmlns:a16="http://schemas.microsoft.com/office/drawing/2014/main" id="{0754E9A4-1020-4B4E-95F3-2114C1AF395B}"/>
              </a:ext>
            </a:extLst>
          </p:cNvPr>
          <p:cNvSpPr>
            <a:spLocks noGrp="1"/>
          </p:cNvSpPr>
          <p:nvPr/>
        </p:nvSpPr>
        <p:spPr>
          <a:xfrm>
            <a:off x="6191250" y="2095500"/>
            <a:ext cx="5334000" cy="1466850"/>
          </a:xfrm>
          <a:prstGeom prst="rect">
            <a:avLst/>
          </a:prstGeom>
          <a:solidFill>
            <a:srgbClr val="EEF2FF"/>
          </a:solidFill>
          <a:ln w="14288">
            <a:solidFill>
              <a:srgbClr val="4F46E5"/>
            </a:solidFill>
            <a:prstDash val="solid"/>
          </a:ln>
        </p:spPr>
        <p:txBody>
          <a:bodyPr/>
          <a:lstStyle/>
          <a:p>
            <a:endParaRPr lang="en-US"/>
          </a:p>
        </p:txBody>
      </p:sp>
      <p:sp>
        <p:nvSpPr>
          <p:cNvPr id="8" name="quality-title-1">
            <a:extLst>
              <a:ext uri="{FF2B5EF4-FFF2-40B4-BE49-F238E27FC236}">
                <a16:creationId xmlns:a16="http://schemas.microsoft.com/office/drawing/2014/main" id="{6C1CACC4-1361-4C25-BD93-3E762249EA26}"/>
              </a:ext>
            </a:extLst>
          </p:cNvPr>
          <p:cNvSpPr>
            <a:spLocks noGrp="1"/>
          </p:cNvSpPr>
          <p:nvPr/>
        </p:nvSpPr>
        <p:spPr>
          <a:xfrm>
            <a:off x="6419850" y="2324100"/>
            <a:ext cx="4762500" cy="361950"/>
          </a:xfrm>
          <a:prstGeom prst="rect">
            <a:avLst/>
          </a:prstGeom>
          <a:noFill/>
          <a:ln w="0">
            <a:noFill/>
            <a:prstDash val="solid"/>
          </a:ln>
        </p:spPr>
        <p:txBody>
          <a:bodyPr lIns="0" tIns="0" rIns="0" bIns="0" anchor="t">
            <a:normAutofit/>
          </a:bodyPr>
          <a:lstStyle/>
          <a:p>
            <a:pPr algn="l">
              <a:defRPr sz="2025" b="1">
                <a:solidFill>
                  <a:srgbClr val="4F46E5"/>
                </a:solidFill>
                <a:latin typeface="Helvetica Neue"/>
                <a:ea typeface="Helvetica Neue"/>
                <a:cs typeface="Helvetica Neue"/>
              </a:defRPr>
            </a:pPr>
            <a:r>
              <a:rPr sz="2025" b="1">
                <a:solidFill>
                  <a:srgbClr val="4F46E5"/>
                </a:solidFill>
                <a:latin typeface="Helvetica Neue"/>
                <a:ea typeface="Helvetica Neue"/>
                <a:cs typeface="Helvetica Neue"/>
              </a:rPr>
              <a:t>Infrastructure tests</a:t>
            </a:r>
          </a:p>
        </p:txBody>
      </p:sp>
      <p:sp>
        <p:nvSpPr>
          <p:cNvPr id="9" name="quality-body-1">
            <a:extLst>
              <a:ext uri="{FF2B5EF4-FFF2-40B4-BE49-F238E27FC236}">
                <a16:creationId xmlns:a16="http://schemas.microsoft.com/office/drawing/2014/main" id="{903325E3-8DC6-4C91-AE38-BF26895C7EC4}"/>
              </a:ext>
            </a:extLst>
          </p:cNvPr>
          <p:cNvSpPr>
            <a:spLocks noGrp="1"/>
          </p:cNvSpPr>
          <p:nvPr/>
        </p:nvSpPr>
        <p:spPr>
          <a:xfrm>
            <a:off x="6419850" y="2819400"/>
            <a:ext cx="4762500" cy="552450"/>
          </a:xfrm>
          <a:prstGeom prst="rect">
            <a:avLst/>
          </a:prstGeom>
          <a:noFill/>
          <a:ln w="0">
            <a:noFill/>
            <a:prstDash val="solid"/>
          </a:ln>
        </p:spPr>
        <p:txBody>
          <a:bodyPr lIns="0" tIns="0" rIns="0" bIns="0" anchor="t">
            <a:normAutofit/>
          </a:bodyPr>
          <a:lstStyle/>
          <a:p>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API client and ProtectedRoute behavior</a:t>
            </a:r>
          </a:p>
        </p:txBody>
      </p:sp>
      <p:sp>
        <p:nvSpPr>
          <p:cNvPr id="10" name="quality-box-2">
            <a:extLst>
              <a:ext uri="{FF2B5EF4-FFF2-40B4-BE49-F238E27FC236}">
                <a16:creationId xmlns:a16="http://schemas.microsoft.com/office/drawing/2014/main" id="{CB65F231-D6F4-4A88-A06B-5666352CD5D8}"/>
              </a:ext>
            </a:extLst>
          </p:cNvPr>
          <p:cNvSpPr>
            <a:spLocks noGrp="1"/>
          </p:cNvSpPr>
          <p:nvPr/>
        </p:nvSpPr>
        <p:spPr>
          <a:xfrm>
            <a:off x="400050" y="4000500"/>
            <a:ext cx="5334000" cy="1466850"/>
          </a:xfrm>
          <a:prstGeom prst="rect">
            <a:avLst/>
          </a:prstGeom>
          <a:solidFill>
            <a:srgbClr val="FFFBEB"/>
          </a:solidFill>
          <a:ln w="14288">
            <a:solidFill>
              <a:srgbClr val="B45309"/>
            </a:solidFill>
            <a:prstDash val="solid"/>
          </a:ln>
        </p:spPr>
        <p:txBody>
          <a:bodyPr/>
          <a:lstStyle/>
          <a:p>
            <a:endParaRPr lang="en-US"/>
          </a:p>
        </p:txBody>
      </p:sp>
      <p:sp>
        <p:nvSpPr>
          <p:cNvPr id="11" name="quality-title-2">
            <a:extLst>
              <a:ext uri="{FF2B5EF4-FFF2-40B4-BE49-F238E27FC236}">
                <a16:creationId xmlns:a16="http://schemas.microsoft.com/office/drawing/2014/main" id="{01A642CE-2CEB-4DC2-9BD0-2AD39F387F51}"/>
              </a:ext>
            </a:extLst>
          </p:cNvPr>
          <p:cNvSpPr>
            <a:spLocks noGrp="1"/>
          </p:cNvSpPr>
          <p:nvPr/>
        </p:nvSpPr>
        <p:spPr>
          <a:xfrm>
            <a:off x="628650" y="4229100"/>
            <a:ext cx="4762500" cy="361950"/>
          </a:xfrm>
          <a:prstGeom prst="rect">
            <a:avLst/>
          </a:prstGeom>
          <a:noFill/>
          <a:ln w="0">
            <a:noFill/>
            <a:prstDash val="solid"/>
          </a:ln>
        </p:spPr>
        <p:txBody>
          <a:bodyPr lIns="0" tIns="0" rIns="0" bIns="0" anchor="t">
            <a:normAutofit/>
          </a:bodyPr>
          <a:lstStyle/>
          <a:p>
            <a:pPr algn="l">
              <a:defRPr sz="2025" b="1">
                <a:solidFill>
                  <a:srgbClr val="B45309"/>
                </a:solidFill>
                <a:latin typeface="Helvetica Neue"/>
                <a:ea typeface="Helvetica Neue"/>
                <a:cs typeface="Helvetica Neue"/>
              </a:defRPr>
            </a:pPr>
            <a:r>
              <a:rPr sz="2025" b="1">
                <a:solidFill>
                  <a:srgbClr val="B45309"/>
                </a:solidFill>
                <a:latin typeface="Helvetica Neue"/>
                <a:ea typeface="Helvetica Neue"/>
                <a:cs typeface="Helvetica Neue"/>
              </a:rPr>
              <a:t>Manual verification</a:t>
            </a:r>
          </a:p>
        </p:txBody>
      </p:sp>
      <p:sp>
        <p:nvSpPr>
          <p:cNvPr id="12" name="quality-body-2">
            <a:extLst>
              <a:ext uri="{FF2B5EF4-FFF2-40B4-BE49-F238E27FC236}">
                <a16:creationId xmlns:a16="http://schemas.microsoft.com/office/drawing/2014/main" id="{E5AA7B97-1B22-4FD6-8CFA-0ADEA1F4A3B0}"/>
              </a:ext>
            </a:extLst>
          </p:cNvPr>
          <p:cNvSpPr>
            <a:spLocks noGrp="1"/>
          </p:cNvSpPr>
          <p:nvPr/>
        </p:nvSpPr>
        <p:spPr>
          <a:xfrm>
            <a:off x="628650" y="4724400"/>
            <a:ext cx="4762500" cy="552450"/>
          </a:xfrm>
          <a:prstGeom prst="rect">
            <a:avLst/>
          </a:prstGeom>
          <a:noFill/>
          <a:ln w="0">
            <a:noFill/>
            <a:prstDash val="solid"/>
          </a:ln>
        </p:spPr>
        <p:txBody>
          <a:bodyPr lIns="0" tIns="0" rIns="0" bIns="0" anchor="t">
            <a:normAutofit/>
          </a:bodyPr>
          <a:lstStyle/>
          <a:p>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MANUAL_TESTING.md documents end-to-end checks</a:t>
            </a:r>
          </a:p>
        </p:txBody>
      </p:sp>
      <p:sp>
        <p:nvSpPr>
          <p:cNvPr id="13" name="quality-box-3">
            <a:extLst>
              <a:ext uri="{FF2B5EF4-FFF2-40B4-BE49-F238E27FC236}">
                <a16:creationId xmlns:a16="http://schemas.microsoft.com/office/drawing/2014/main" id="{453B6B0C-771C-41CB-933C-9702EE05F618}"/>
              </a:ext>
            </a:extLst>
          </p:cNvPr>
          <p:cNvSpPr>
            <a:spLocks noGrp="1"/>
          </p:cNvSpPr>
          <p:nvPr/>
        </p:nvSpPr>
        <p:spPr>
          <a:xfrm>
            <a:off x="6191250" y="4000500"/>
            <a:ext cx="5334000" cy="1466850"/>
          </a:xfrm>
          <a:prstGeom prst="rect">
            <a:avLst/>
          </a:prstGeom>
          <a:solidFill>
            <a:srgbClr val="FAF5FF"/>
          </a:solidFill>
          <a:ln w="14288">
            <a:solidFill>
              <a:srgbClr val="7E22CE"/>
            </a:solidFill>
            <a:prstDash val="solid"/>
          </a:ln>
        </p:spPr>
        <p:txBody>
          <a:bodyPr/>
          <a:lstStyle/>
          <a:p>
            <a:endParaRPr lang="en-US"/>
          </a:p>
        </p:txBody>
      </p:sp>
      <p:sp>
        <p:nvSpPr>
          <p:cNvPr id="14" name="quality-title-3">
            <a:extLst>
              <a:ext uri="{FF2B5EF4-FFF2-40B4-BE49-F238E27FC236}">
                <a16:creationId xmlns:a16="http://schemas.microsoft.com/office/drawing/2014/main" id="{EEB02B7A-6A67-4ED4-B1E3-DC37FBB0A8C3}"/>
              </a:ext>
            </a:extLst>
          </p:cNvPr>
          <p:cNvSpPr>
            <a:spLocks noGrp="1"/>
          </p:cNvSpPr>
          <p:nvPr/>
        </p:nvSpPr>
        <p:spPr>
          <a:xfrm>
            <a:off x="6419850" y="4229100"/>
            <a:ext cx="4762500" cy="361950"/>
          </a:xfrm>
          <a:prstGeom prst="rect">
            <a:avLst/>
          </a:prstGeom>
          <a:noFill/>
          <a:ln w="0">
            <a:noFill/>
            <a:prstDash val="solid"/>
          </a:ln>
        </p:spPr>
        <p:txBody>
          <a:bodyPr lIns="0" tIns="0" rIns="0" bIns="0" anchor="t">
            <a:normAutofit/>
          </a:bodyPr>
          <a:lstStyle/>
          <a:p>
            <a:pPr algn="l">
              <a:defRPr sz="2025" b="1">
                <a:solidFill>
                  <a:srgbClr val="7E22CE"/>
                </a:solidFill>
                <a:latin typeface="Helvetica Neue"/>
                <a:ea typeface="Helvetica Neue"/>
                <a:cs typeface="Helvetica Neue"/>
              </a:defRPr>
            </a:pPr>
            <a:r>
              <a:rPr sz="2025" b="1">
                <a:solidFill>
                  <a:srgbClr val="7E22CE"/>
                </a:solidFill>
                <a:latin typeface="Helvetica Neue"/>
                <a:ea typeface="Helvetica Neue"/>
                <a:cs typeface="Helvetica Neue"/>
              </a:rPr>
              <a:t>Design and contracts</a:t>
            </a:r>
          </a:p>
        </p:txBody>
      </p:sp>
      <p:sp>
        <p:nvSpPr>
          <p:cNvPr id="15" name="quality-body-3">
            <a:extLst>
              <a:ext uri="{FF2B5EF4-FFF2-40B4-BE49-F238E27FC236}">
                <a16:creationId xmlns:a16="http://schemas.microsoft.com/office/drawing/2014/main" id="{8D6CE216-6E2D-49BA-AC50-4548B919C470}"/>
              </a:ext>
            </a:extLst>
          </p:cNvPr>
          <p:cNvSpPr>
            <a:spLocks noGrp="1"/>
          </p:cNvSpPr>
          <p:nvPr/>
        </p:nvSpPr>
        <p:spPr>
          <a:xfrm>
            <a:off x="6419850" y="4724400"/>
            <a:ext cx="4762500" cy="552450"/>
          </a:xfrm>
          <a:prstGeom prst="rect">
            <a:avLst/>
          </a:prstGeom>
          <a:noFill/>
          <a:ln w="0">
            <a:noFill/>
            <a:prstDash val="solid"/>
          </a:ln>
        </p:spPr>
        <p:txBody>
          <a:bodyPr lIns="0" tIns="0" rIns="0" bIns="0" anchor="t">
            <a:normAutofit/>
          </a:bodyPr>
          <a:lstStyle/>
          <a:p>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design.md and frontend/spec.md preserve intent</a:t>
            </a:r>
          </a:p>
        </p:txBody>
      </p:sp>
      <p:sp>
        <p:nvSpPr>
          <p:cNvPr id="16" name="source-14">
            <a:extLst>
              <a:ext uri="{FF2B5EF4-FFF2-40B4-BE49-F238E27FC236}">
                <a16:creationId xmlns:a16="http://schemas.microsoft.com/office/drawing/2014/main" id="{6407D521-FFD7-43C3-97F4-346DCD893F5E}"/>
              </a:ext>
            </a:extLst>
          </p:cNvPr>
          <p:cNvSpPr>
            <a:spLocks noGrp="1"/>
          </p:cNvSpPr>
          <p:nvPr/>
        </p:nvSpPr>
        <p:spPr>
          <a:xfrm>
            <a:off x="400050" y="6334125"/>
            <a:ext cx="5143500" cy="190500"/>
          </a:xfrm>
          <a:prstGeom prst="rect">
            <a:avLst/>
          </a:prstGeom>
          <a:noFill/>
          <a:ln w="0">
            <a:noFill/>
            <a:prstDash val="solid"/>
          </a:ln>
        </p:spPr>
        <p:txBody>
          <a:bodyPr lIns="0" tIns="0" rIns="0" bIns="0" anchor="t">
            <a:normAutofit/>
          </a:bodyPr>
          <a:lstStyle/>
          <a:p>
            <a:pPr algn="l">
              <a:defRPr sz="975" b="0">
                <a:solidFill>
                  <a:srgbClr val="566176"/>
                </a:solidFill>
                <a:latin typeface="Helvetica Neue"/>
                <a:ea typeface="Helvetica Neue"/>
                <a:cs typeface="Helvetica Neue"/>
              </a:defRPr>
            </a:pPr>
            <a:r>
              <a:rPr sz="975" b="0">
                <a:solidFill>
                  <a:srgbClr val="566176"/>
                </a:solidFill>
                <a:latin typeface="Helvetica Neue"/>
                <a:ea typeface="Helvetica Neue"/>
                <a:cs typeface="Helvetica Neue"/>
              </a:rPr>
              <a:t>deepakbabel23/minitrack • mt_frontend_react</a:t>
            </a:r>
          </a:p>
        </p:txBody>
      </p:sp>
      <p:sp>
        <p:nvSpPr>
          <p:cNvPr id="17" name="slide-number-14">
            <a:extLst>
              <a:ext uri="{FF2B5EF4-FFF2-40B4-BE49-F238E27FC236}">
                <a16:creationId xmlns:a16="http://schemas.microsoft.com/office/drawing/2014/main" id="{80AD75FB-E3B9-4F84-A43F-B3270928C90B}"/>
              </a:ext>
            </a:extLst>
          </p:cNvPr>
          <p:cNvSpPr>
            <a:spLocks noGrp="1"/>
          </p:cNvSpPr>
          <p:nvPr/>
        </p:nvSpPr>
        <p:spPr>
          <a:xfrm>
            <a:off x="11334750" y="6334125"/>
            <a:ext cx="457200" cy="190500"/>
          </a:xfrm>
          <a:prstGeom prst="rect">
            <a:avLst/>
          </a:prstGeom>
          <a:noFill/>
          <a:ln w="0">
            <a:noFill/>
            <a:prstDash val="solid"/>
          </a:ln>
        </p:spPr>
        <p:txBody>
          <a:bodyPr lIns="0" tIns="0" rIns="0" bIns="0" anchor="t">
            <a:normAutofit/>
          </a:bodyPr>
          <a:lstStyle/>
          <a:p>
            <a:pPr algn="r">
              <a:defRPr sz="1050" b="0">
                <a:solidFill>
                  <a:srgbClr val="566176"/>
                </a:solidFill>
                <a:latin typeface="Helvetica Neue"/>
                <a:ea typeface="Helvetica Neue"/>
                <a:cs typeface="Helvetica Neue"/>
              </a:defRPr>
            </a:pPr>
            <a:r>
              <a:rPr sz="1050" b="0">
                <a:solidFill>
                  <a:srgbClr val="566176"/>
                </a:solidFill>
                <a:latin typeface="Helvetica Neue"/>
                <a:ea typeface="Helvetica Neue"/>
                <a:cs typeface="Helvetica Neue"/>
              </a:rPr>
              <a:t>14</a:t>
            </a:r>
          </a:p>
        </p:txBody>
      </p:sp>
    </p:spTree>
    <p:extLst>
      <p:ext uri="{BB962C8B-B14F-4D97-AF65-F5344CB8AC3E}">
        <p14:creationId xmlns:p14="http://schemas.microsoft.com/office/powerpoint/2010/main" val="744039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title-15">
            <a:extLst>
              <a:ext uri="{FF2B5EF4-FFF2-40B4-BE49-F238E27FC236}">
                <a16:creationId xmlns:a16="http://schemas.microsoft.com/office/drawing/2014/main" id="{6AF8F827-5530-47A9-890E-8B487ABB2B0C}"/>
              </a:ext>
            </a:extLst>
          </p:cNvPr>
          <p:cNvSpPr>
            <a:spLocks noGrp="1"/>
          </p:cNvSpPr>
          <p:nvPr/>
        </p:nvSpPr>
        <p:spPr>
          <a:xfrm>
            <a:off x="400050" y="323850"/>
            <a:ext cx="11049000" cy="742950"/>
          </a:xfrm>
          <a:prstGeom prst="rect">
            <a:avLst/>
          </a:prstGeom>
          <a:noFill/>
          <a:ln w="0">
            <a:noFill/>
            <a:prstDash val="solid"/>
          </a:ln>
        </p:spPr>
        <p:txBody>
          <a:bodyPr lIns="0" tIns="0" rIns="0" bIns="0" anchor="t">
            <a:normAutofit fontScale="77806"/>
          </a:bodyPr>
          <a:lstStyle/>
          <a:p>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Add the next feature by following ownership—not by growing one page</a:t>
            </a:r>
          </a:p>
        </p:txBody>
      </p:sp>
      <p:sp>
        <p:nvSpPr>
          <p:cNvPr id="2" name="slide-number-15">
            <a:extLst>
              <a:ext uri="{FF2B5EF4-FFF2-40B4-BE49-F238E27FC236}">
                <a16:creationId xmlns:a16="http://schemas.microsoft.com/office/drawing/2014/main" id="{77620377-91A3-4065-8F19-DBD2D3287416}"/>
              </a:ext>
            </a:extLst>
          </p:cNvPr>
          <p:cNvSpPr>
            <a:spLocks noGrp="1"/>
          </p:cNvSpPr>
          <p:nvPr/>
        </p:nvSpPr>
        <p:spPr>
          <a:xfrm>
            <a:off x="11334750" y="6334125"/>
            <a:ext cx="457200" cy="190500"/>
          </a:xfrm>
          <a:prstGeom prst="rect">
            <a:avLst/>
          </a:prstGeom>
          <a:noFill/>
          <a:ln w="0">
            <a:noFill/>
            <a:prstDash val="solid"/>
          </a:ln>
        </p:spPr>
        <p:txBody>
          <a:bodyPr lIns="0" tIns="0" rIns="0" bIns="0" anchor="t">
            <a:normAutofit/>
          </a:bodyPr>
          <a:lstStyle/>
          <a:p>
            <a:pPr algn="r">
              <a:defRPr sz="1050" b="0">
                <a:solidFill>
                  <a:srgbClr val="566176"/>
                </a:solidFill>
                <a:latin typeface="Helvetica Neue"/>
                <a:ea typeface="Helvetica Neue"/>
                <a:cs typeface="Helvetica Neue"/>
              </a:defRPr>
            </a:pPr>
            <a:r>
              <a:rPr sz="1050" b="0">
                <a:solidFill>
                  <a:srgbClr val="566176"/>
                </a:solidFill>
                <a:latin typeface="Helvetica Neue"/>
                <a:ea typeface="Helvetica Neue"/>
                <a:cs typeface="Helvetica Neue"/>
              </a:rPr>
              <a:t>15</a:t>
            </a:r>
          </a:p>
        </p:txBody>
      </p:sp>
      <p:sp>
        <p:nvSpPr>
          <p:cNvPr id="3" name="check-intro">
            <a:extLst>
              <a:ext uri="{FF2B5EF4-FFF2-40B4-BE49-F238E27FC236}">
                <a16:creationId xmlns:a16="http://schemas.microsoft.com/office/drawing/2014/main" id="{EECE0C18-129C-405D-9A61-A99EB2C092EC}"/>
              </a:ext>
            </a:extLst>
          </p:cNvPr>
          <p:cNvSpPr>
            <a:spLocks noGrp="1"/>
          </p:cNvSpPr>
          <p:nvPr/>
        </p:nvSpPr>
        <p:spPr>
          <a:xfrm>
            <a:off x="400050" y="1085850"/>
            <a:ext cx="9525000" cy="457200"/>
          </a:xfrm>
          <a:prstGeom prst="rect">
            <a:avLst/>
          </a:prstGeom>
          <a:noFill/>
          <a:ln w="0">
            <a:noFill/>
            <a:prstDash val="solid"/>
          </a:ln>
        </p:spPr>
        <p:txBody>
          <a:bodyPr lIns="0" tIns="0" rIns="0" bIns="0" anchor="t">
            <a:normAutofit/>
          </a:bodyPr>
          <a:lstStyle/>
          <a:p>
            <a:pPr algn="l">
              <a:defRPr sz="1800" b="0">
                <a:solidFill>
                  <a:srgbClr val="566176"/>
                </a:solidFill>
                <a:latin typeface="Helvetica Neue"/>
                <a:ea typeface="Helvetica Neue"/>
                <a:cs typeface="Helvetica Neue"/>
              </a:defRPr>
            </a:pPr>
            <a:r>
              <a:rPr sz="1800" b="0">
                <a:solidFill>
                  <a:srgbClr val="566176"/>
                </a:solidFill>
                <a:latin typeface="Helvetica Neue"/>
                <a:ea typeface="Helvetica Neue"/>
                <a:cs typeface="Helvetica Neue"/>
              </a:rPr>
              <a:t>Before writing code, decide which responsibility is changing.</a:t>
            </a:r>
          </a:p>
        </p:txBody>
      </p:sp>
      <p:sp>
        <p:nvSpPr>
          <p:cNvPr id="4" name="check-circle-0">
            <a:extLst>
              <a:ext uri="{FF2B5EF4-FFF2-40B4-BE49-F238E27FC236}">
                <a16:creationId xmlns:a16="http://schemas.microsoft.com/office/drawing/2014/main" id="{73CAB40A-7F34-4E3F-A3E7-5C7C6ECA731F}"/>
              </a:ext>
            </a:extLst>
          </p:cNvPr>
          <p:cNvSpPr>
            <a:spLocks noGrp="1"/>
          </p:cNvSpPr>
          <p:nvPr/>
        </p:nvSpPr>
        <p:spPr>
          <a:xfrm>
            <a:off x="571500" y="1905000"/>
            <a:ext cx="266700" cy="266700"/>
          </a:xfrm>
          <a:prstGeom prst="roundRect">
            <a:avLst>
              <a:gd name="adj" fmla="val 50000"/>
            </a:avLst>
          </a:prstGeom>
          <a:solidFill>
            <a:srgbClr val="3D8DFF"/>
          </a:solidFill>
          <a:ln w="14288">
            <a:solidFill>
              <a:srgbClr val="3D8DFF"/>
            </a:solidFill>
            <a:prstDash val="solid"/>
          </a:ln>
        </p:spPr>
        <p:txBody>
          <a:bodyPr/>
          <a:lstStyle/>
          <a:p>
            <a:endParaRPr lang="en-US"/>
          </a:p>
        </p:txBody>
      </p:sp>
      <p:sp>
        <p:nvSpPr>
          <p:cNvPr id="5" name="check-mark-0">
            <a:extLst>
              <a:ext uri="{FF2B5EF4-FFF2-40B4-BE49-F238E27FC236}">
                <a16:creationId xmlns:a16="http://schemas.microsoft.com/office/drawing/2014/main" id="{C1B1D012-E87C-4037-BF2E-72B5AFAFB80E}"/>
              </a:ext>
            </a:extLst>
          </p:cNvPr>
          <p:cNvSpPr>
            <a:spLocks noGrp="1"/>
          </p:cNvSpPr>
          <p:nvPr/>
        </p:nvSpPr>
        <p:spPr>
          <a:xfrm>
            <a:off x="609600" y="1905000"/>
            <a:ext cx="190500" cy="266700"/>
          </a:xfrm>
          <a:prstGeom prst="rect">
            <a:avLst/>
          </a:prstGeom>
          <a:noFill/>
          <a:ln w="0">
            <a:noFill/>
            <a:prstDash val="solid"/>
          </a:ln>
        </p:spPr>
        <p:txBody>
          <a:bodyPr lIns="0" tIns="0" rIns="0" bIns="0" anchor="ctr">
            <a:normAutofit/>
          </a:bodyPr>
          <a:lstStyle/>
          <a:p>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t>
            </a:r>
          </a:p>
        </p:txBody>
      </p:sp>
      <p:sp>
        <p:nvSpPr>
          <p:cNvPr id="6" name="check-question-0">
            <a:extLst>
              <a:ext uri="{FF2B5EF4-FFF2-40B4-BE49-F238E27FC236}">
                <a16:creationId xmlns:a16="http://schemas.microsoft.com/office/drawing/2014/main" id="{F409200C-78E6-4EED-BFDC-22B8CB1122AC}"/>
              </a:ext>
            </a:extLst>
          </p:cNvPr>
          <p:cNvSpPr>
            <a:spLocks noGrp="1"/>
          </p:cNvSpPr>
          <p:nvPr/>
        </p:nvSpPr>
        <p:spPr>
          <a:xfrm>
            <a:off x="1066800" y="1857375"/>
            <a:ext cx="3619500" cy="400050"/>
          </a:xfrm>
          <a:prstGeom prst="rect">
            <a:avLst/>
          </a:prstGeom>
          <a:noFill/>
          <a:ln w="0">
            <a:noFill/>
            <a:prstDash val="solid"/>
          </a:ln>
        </p:spPr>
        <p:txBody>
          <a:bodyPr lIns="0" tIns="0" rIns="0" bIns="0" anchor="t">
            <a:normAutofit/>
          </a:bodyPr>
          <a:lstStyle/>
          <a:p>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New FastAPI endpoint?</a:t>
            </a:r>
          </a:p>
        </p:txBody>
      </p:sp>
      <p:sp>
        <p:nvSpPr>
          <p:cNvPr id="7" name="check-answer-0">
            <a:extLst>
              <a:ext uri="{FF2B5EF4-FFF2-40B4-BE49-F238E27FC236}">
                <a16:creationId xmlns:a16="http://schemas.microsoft.com/office/drawing/2014/main" id="{776F7CC4-EBAB-4480-91B7-5BDD62167180}"/>
              </a:ext>
            </a:extLst>
          </p:cNvPr>
          <p:cNvSpPr>
            <a:spLocks noGrp="1"/>
          </p:cNvSpPr>
          <p:nvPr/>
        </p:nvSpPr>
        <p:spPr>
          <a:xfrm>
            <a:off x="4953000" y="1857375"/>
            <a:ext cx="6191250" cy="400050"/>
          </a:xfrm>
          <a:prstGeom prst="rect">
            <a:avLst/>
          </a:prstGeom>
          <a:noFill/>
          <a:ln w="0">
            <a:noFill/>
            <a:prstDash val="solid"/>
          </a:ln>
        </p:spPr>
        <p:txBody>
          <a:bodyPr lIns="0" tIns="0" rIns="0" bIns="0" anchor="t">
            <a:normAutofit/>
          </a:bodyPr>
          <a:lstStyle/>
          <a:p>
            <a:pPr algn="l">
              <a:defRPr sz="1650" b="0">
                <a:solidFill>
                  <a:srgbClr val="566176"/>
                </a:solidFill>
                <a:latin typeface="Helvetica Neue"/>
                <a:ea typeface="Helvetica Neue"/>
                <a:cs typeface="Helvetica Neue"/>
              </a:defRPr>
            </a:pPr>
            <a:r>
              <a:rPr sz="1650" b="0">
                <a:solidFill>
                  <a:srgbClr val="566176"/>
                </a:solidFill>
                <a:latin typeface="Helvetica Neue"/>
                <a:ea typeface="Helvetica Neue"/>
                <a:cs typeface="Helvetica Neue"/>
              </a:rPr>
              <a:t>Add a typed function in api/.</a:t>
            </a:r>
          </a:p>
        </p:txBody>
      </p:sp>
      <p:sp>
        <p:nvSpPr>
          <p:cNvPr id="8" name="check-circle-1">
            <a:extLst>
              <a:ext uri="{FF2B5EF4-FFF2-40B4-BE49-F238E27FC236}">
                <a16:creationId xmlns:a16="http://schemas.microsoft.com/office/drawing/2014/main" id="{4CCAC2E7-2A15-42DB-AF6A-C1BC6B8156A6}"/>
              </a:ext>
            </a:extLst>
          </p:cNvPr>
          <p:cNvSpPr>
            <a:spLocks noGrp="1"/>
          </p:cNvSpPr>
          <p:nvPr/>
        </p:nvSpPr>
        <p:spPr>
          <a:xfrm>
            <a:off x="571500" y="2590800"/>
            <a:ext cx="266700" cy="266700"/>
          </a:xfrm>
          <a:prstGeom prst="roundRect">
            <a:avLst>
              <a:gd name="adj" fmla="val 50000"/>
            </a:avLst>
          </a:prstGeom>
          <a:solidFill>
            <a:srgbClr val="3D8DFF"/>
          </a:solidFill>
          <a:ln w="14288">
            <a:solidFill>
              <a:srgbClr val="3D8DFF"/>
            </a:solidFill>
            <a:prstDash val="solid"/>
          </a:ln>
        </p:spPr>
        <p:txBody>
          <a:bodyPr/>
          <a:lstStyle/>
          <a:p>
            <a:endParaRPr lang="en-US"/>
          </a:p>
        </p:txBody>
      </p:sp>
      <p:sp>
        <p:nvSpPr>
          <p:cNvPr id="9" name="check-mark-1">
            <a:extLst>
              <a:ext uri="{FF2B5EF4-FFF2-40B4-BE49-F238E27FC236}">
                <a16:creationId xmlns:a16="http://schemas.microsoft.com/office/drawing/2014/main" id="{48CCFB90-A374-4554-BECE-D1AC39BF8796}"/>
              </a:ext>
            </a:extLst>
          </p:cNvPr>
          <p:cNvSpPr>
            <a:spLocks noGrp="1"/>
          </p:cNvSpPr>
          <p:nvPr/>
        </p:nvSpPr>
        <p:spPr>
          <a:xfrm>
            <a:off x="609600" y="2590800"/>
            <a:ext cx="190500" cy="266700"/>
          </a:xfrm>
          <a:prstGeom prst="rect">
            <a:avLst/>
          </a:prstGeom>
          <a:noFill/>
          <a:ln w="0">
            <a:noFill/>
            <a:prstDash val="solid"/>
          </a:ln>
        </p:spPr>
        <p:txBody>
          <a:bodyPr lIns="0" tIns="0" rIns="0" bIns="0" anchor="ctr">
            <a:normAutofit/>
          </a:bodyPr>
          <a:lstStyle/>
          <a:p>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t>
            </a:r>
          </a:p>
        </p:txBody>
      </p:sp>
      <p:sp>
        <p:nvSpPr>
          <p:cNvPr id="10" name="check-question-1">
            <a:extLst>
              <a:ext uri="{FF2B5EF4-FFF2-40B4-BE49-F238E27FC236}">
                <a16:creationId xmlns:a16="http://schemas.microsoft.com/office/drawing/2014/main" id="{4BE004A2-2618-4628-97C5-A90DEAF92D24}"/>
              </a:ext>
            </a:extLst>
          </p:cNvPr>
          <p:cNvSpPr>
            <a:spLocks noGrp="1"/>
          </p:cNvSpPr>
          <p:nvPr/>
        </p:nvSpPr>
        <p:spPr>
          <a:xfrm>
            <a:off x="1066800" y="2543175"/>
            <a:ext cx="3619500" cy="400050"/>
          </a:xfrm>
          <a:prstGeom prst="rect">
            <a:avLst/>
          </a:prstGeom>
          <a:noFill/>
          <a:ln w="0">
            <a:noFill/>
            <a:prstDash val="solid"/>
          </a:ln>
        </p:spPr>
        <p:txBody>
          <a:bodyPr lIns="0" tIns="0" rIns="0" bIns="0" anchor="t">
            <a:normAutofit/>
          </a:bodyPr>
          <a:lstStyle/>
          <a:p>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New server data shape?</a:t>
            </a:r>
          </a:p>
        </p:txBody>
      </p:sp>
      <p:sp>
        <p:nvSpPr>
          <p:cNvPr id="11" name="check-answer-1">
            <a:extLst>
              <a:ext uri="{FF2B5EF4-FFF2-40B4-BE49-F238E27FC236}">
                <a16:creationId xmlns:a16="http://schemas.microsoft.com/office/drawing/2014/main" id="{CFC1A2AF-223F-40F6-B6D4-21EB871986F8}"/>
              </a:ext>
            </a:extLst>
          </p:cNvPr>
          <p:cNvSpPr>
            <a:spLocks noGrp="1"/>
          </p:cNvSpPr>
          <p:nvPr/>
        </p:nvSpPr>
        <p:spPr>
          <a:xfrm>
            <a:off x="4953000" y="2543175"/>
            <a:ext cx="6191250" cy="400050"/>
          </a:xfrm>
          <a:prstGeom prst="rect">
            <a:avLst/>
          </a:prstGeom>
          <a:noFill/>
          <a:ln w="0">
            <a:noFill/>
            <a:prstDash val="solid"/>
          </a:ln>
        </p:spPr>
        <p:txBody>
          <a:bodyPr lIns="0" tIns="0" rIns="0" bIns="0" anchor="t">
            <a:normAutofit/>
          </a:bodyPr>
          <a:lstStyle/>
          <a:p>
            <a:pPr algn="l">
              <a:defRPr sz="1650" b="0">
                <a:solidFill>
                  <a:srgbClr val="566176"/>
                </a:solidFill>
                <a:latin typeface="Helvetica Neue"/>
                <a:ea typeface="Helvetica Neue"/>
                <a:cs typeface="Helvetica Neue"/>
              </a:defRPr>
            </a:pPr>
            <a:r>
              <a:rPr sz="1650" b="0">
                <a:solidFill>
                  <a:srgbClr val="566176"/>
                </a:solidFill>
                <a:latin typeface="Helvetica Neue"/>
                <a:ea typeface="Helvetica Neue"/>
                <a:cs typeface="Helvetica Neue"/>
              </a:rPr>
              <a:t>Update types/ to mirror the backend contract.</a:t>
            </a:r>
          </a:p>
        </p:txBody>
      </p:sp>
      <p:sp>
        <p:nvSpPr>
          <p:cNvPr id="12" name="check-circle-2">
            <a:extLst>
              <a:ext uri="{FF2B5EF4-FFF2-40B4-BE49-F238E27FC236}">
                <a16:creationId xmlns:a16="http://schemas.microsoft.com/office/drawing/2014/main" id="{72977F19-F4F3-46A4-B3A6-90E2FB3401A4}"/>
              </a:ext>
            </a:extLst>
          </p:cNvPr>
          <p:cNvSpPr>
            <a:spLocks noGrp="1"/>
          </p:cNvSpPr>
          <p:nvPr/>
        </p:nvSpPr>
        <p:spPr>
          <a:xfrm>
            <a:off x="571500" y="3276600"/>
            <a:ext cx="266700" cy="266700"/>
          </a:xfrm>
          <a:prstGeom prst="roundRect">
            <a:avLst>
              <a:gd name="adj" fmla="val 50000"/>
            </a:avLst>
          </a:prstGeom>
          <a:solidFill>
            <a:srgbClr val="3D8DFF"/>
          </a:solidFill>
          <a:ln w="14288">
            <a:solidFill>
              <a:srgbClr val="3D8DFF"/>
            </a:solidFill>
            <a:prstDash val="solid"/>
          </a:ln>
        </p:spPr>
        <p:txBody>
          <a:bodyPr/>
          <a:lstStyle/>
          <a:p>
            <a:endParaRPr lang="en-US"/>
          </a:p>
        </p:txBody>
      </p:sp>
      <p:sp>
        <p:nvSpPr>
          <p:cNvPr id="13" name="check-mark-2">
            <a:extLst>
              <a:ext uri="{FF2B5EF4-FFF2-40B4-BE49-F238E27FC236}">
                <a16:creationId xmlns:a16="http://schemas.microsoft.com/office/drawing/2014/main" id="{6ECCFE6F-24C8-4BD5-8DE9-53F998C2A65B}"/>
              </a:ext>
            </a:extLst>
          </p:cNvPr>
          <p:cNvSpPr>
            <a:spLocks noGrp="1"/>
          </p:cNvSpPr>
          <p:nvPr/>
        </p:nvSpPr>
        <p:spPr>
          <a:xfrm>
            <a:off x="609600" y="3276600"/>
            <a:ext cx="190500" cy="266700"/>
          </a:xfrm>
          <a:prstGeom prst="rect">
            <a:avLst/>
          </a:prstGeom>
          <a:noFill/>
          <a:ln w="0">
            <a:noFill/>
            <a:prstDash val="solid"/>
          </a:ln>
        </p:spPr>
        <p:txBody>
          <a:bodyPr lIns="0" tIns="0" rIns="0" bIns="0" anchor="ctr">
            <a:normAutofit/>
          </a:bodyPr>
          <a:lstStyle/>
          <a:p>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t>
            </a:r>
          </a:p>
        </p:txBody>
      </p:sp>
      <p:sp>
        <p:nvSpPr>
          <p:cNvPr id="14" name="check-question-2">
            <a:extLst>
              <a:ext uri="{FF2B5EF4-FFF2-40B4-BE49-F238E27FC236}">
                <a16:creationId xmlns:a16="http://schemas.microsoft.com/office/drawing/2014/main" id="{E48137B8-5A3B-4542-A9DA-8F0E38E24FBC}"/>
              </a:ext>
            </a:extLst>
          </p:cNvPr>
          <p:cNvSpPr>
            <a:spLocks noGrp="1"/>
          </p:cNvSpPr>
          <p:nvPr/>
        </p:nvSpPr>
        <p:spPr>
          <a:xfrm>
            <a:off x="1066800" y="3228975"/>
            <a:ext cx="3619500" cy="400050"/>
          </a:xfrm>
          <a:prstGeom prst="rect">
            <a:avLst/>
          </a:prstGeom>
          <a:noFill/>
          <a:ln w="0">
            <a:noFill/>
            <a:prstDash val="solid"/>
          </a:ln>
        </p:spPr>
        <p:txBody>
          <a:bodyPr lIns="0" tIns="0" rIns="0" bIns="0" anchor="t">
            <a:normAutofit/>
          </a:bodyPr>
          <a:lstStyle/>
          <a:p>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New full screen?</a:t>
            </a:r>
          </a:p>
        </p:txBody>
      </p:sp>
      <p:sp>
        <p:nvSpPr>
          <p:cNvPr id="15" name="check-answer-2">
            <a:extLst>
              <a:ext uri="{FF2B5EF4-FFF2-40B4-BE49-F238E27FC236}">
                <a16:creationId xmlns:a16="http://schemas.microsoft.com/office/drawing/2014/main" id="{EDE981EF-7603-4E0E-B77B-B269E9E101AC}"/>
              </a:ext>
            </a:extLst>
          </p:cNvPr>
          <p:cNvSpPr>
            <a:spLocks noGrp="1"/>
          </p:cNvSpPr>
          <p:nvPr/>
        </p:nvSpPr>
        <p:spPr>
          <a:xfrm>
            <a:off x="4953000" y="3228975"/>
            <a:ext cx="6191250" cy="400050"/>
          </a:xfrm>
          <a:prstGeom prst="rect">
            <a:avLst/>
          </a:prstGeom>
          <a:noFill/>
          <a:ln w="0">
            <a:noFill/>
            <a:prstDash val="solid"/>
          </a:ln>
        </p:spPr>
        <p:txBody>
          <a:bodyPr lIns="0" tIns="0" rIns="0" bIns="0" anchor="t">
            <a:normAutofit/>
          </a:bodyPr>
          <a:lstStyle/>
          <a:p>
            <a:pPr algn="l">
              <a:defRPr sz="1650" b="0">
                <a:solidFill>
                  <a:srgbClr val="566176"/>
                </a:solidFill>
                <a:latin typeface="Helvetica Neue"/>
                <a:ea typeface="Helvetica Neue"/>
                <a:cs typeface="Helvetica Neue"/>
              </a:defRPr>
            </a:pPr>
            <a:r>
              <a:rPr sz="1650" b="0">
                <a:solidFill>
                  <a:srgbClr val="566176"/>
                </a:solidFill>
                <a:latin typeface="Helvetica Neue"/>
                <a:ea typeface="Helvetica Neue"/>
                <a:cs typeface="Helvetica Neue"/>
              </a:rPr>
              <a:t>Create a page and register its URL in App.tsx.</a:t>
            </a:r>
          </a:p>
        </p:txBody>
      </p:sp>
      <p:sp>
        <p:nvSpPr>
          <p:cNvPr id="16" name="check-circle-3">
            <a:extLst>
              <a:ext uri="{FF2B5EF4-FFF2-40B4-BE49-F238E27FC236}">
                <a16:creationId xmlns:a16="http://schemas.microsoft.com/office/drawing/2014/main" id="{F37BF432-8F95-4BCF-A72F-C1504E53F363}"/>
              </a:ext>
            </a:extLst>
          </p:cNvPr>
          <p:cNvSpPr>
            <a:spLocks noGrp="1"/>
          </p:cNvSpPr>
          <p:nvPr/>
        </p:nvSpPr>
        <p:spPr>
          <a:xfrm>
            <a:off x="571500" y="3962400"/>
            <a:ext cx="266700" cy="266700"/>
          </a:xfrm>
          <a:prstGeom prst="roundRect">
            <a:avLst>
              <a:gd name="adj" fmla="val 50000"/>
            </a:avLst>
          </a:prstGeom>
          <a:solidFill>
            <a:srgbClr val="3D8DFF"/>
          </a:solidFill>
          <a:ln w="14288">
            <a:solidFill>
              <a:srgbClr val="3D8DFF"/>
            </a:solidFill>
            <a:prstDash val="solid"/>
          </a:ln>
        </p:spPr>
        <p:txBody>
          <a:bodyPr/>
          <a:lstStyle/>
          <a:p>
            <a:endParaRPr lang="en-US"/>
          </a:p>
        </p:txBody>
      </p:sp>
      <p:sp>
        <p:nvSpPr>
          <p:cNvPr id="17" name="check-mark-3">
            <a:extLst>
              <a:ext uri="{FF2B5EF4-FFF2-40B4-BE49-F238E27FC236}">
                <a16:creationId xmlns:a16="http://schemas.microsoft.com/office/drawing/2014/main" id="{AC2E73FD-2BC9-42D8-A4D4-87C1515BDDBA}"/>
              </a:ext>
            </a:extLst>
          </p:cNvPr>
          <p:cNvSpPr>
            <a:spLocks noGrp="1"/>
          </p:cNvSpPr>
          <p:nvPr/>
        </p:nvSpPr>
        <p:spPr>
          <a:xfrm>
            <a:off x="609600" y="3962400"/>
            <a:ext cx="190500" cy="266700"/>
          </a:xfrm>
          <a:prstGeom prst="rect">
            <a:avLst/>
          </a:prstGeom>
          <a:noFill/>
          <a:ln w="0">
            <a:noFill/>
            <a:prstDash val="solid"/>
          </a:ln>
        </p:spPr>
        <p:txBody>
          <a:bodyPr lIns="0" tIns="0" rIns="0" bIns="0" anchor="ctr">
            <a:normAutofit/>
          </a:bodyPr>
          <a:lstStyle/>
          <a:p>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t>
            </a:r>
          </a:p>
        </p:txBody>
      </p:sp>
      <p:sp>
        <p:nvSpPr>
          <p:cNvPr id="18" name="check-question-3">
            <a:extLst>
              <a:ext uri="{FF2B5EF4-FFF2-40B4-BE49-F238E27FC236}">
                <a16:creationId xmlns:a16="http://schemas.microsoft.com/office/drawing/2014/main" id="{0C4B902A-46F9-4DA3-AC20-F6DA3AED9A6B}"/>
              </a:ext>
            </a:extLst>
          </p:cNvPr>
          <p:cNvSpPr>
            <a:spLocks noGrp="1"/>
          </p:cNvSpPr>
          <p:nvPr/>
        </p:nvSpPr>
        <p:spPr>
          <a:xfrm>
            <a:off x="1066800" y="3914775"/>
            <a:ext cx="3619500" cy="400050"/>
          </a:xfrm>
          <a:prstGeom prst="rect">
            <a:avLst/>
          </a:prstGeom>
          <a:noFill/>
          <a:ln w="0">
            <a:noFill/>
            <a:prstDash val="solid"/>
          </a:ln>
        </p:spPr>
        <p:txBody>
          <a:bodyPr lIns="0" tIns="0" rIns="0" bIns="0" anchor="t">
            <a:normAutofit/>
          </a:bodyPr>
          <a:lstStyle/>
          <a:p>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Reusable visual element?</a:t>
            </a:r>
          </a:p>
        </p:txBody>
      </p:sp>
      <p:sp>
        <p:nvSpPr>
          <p:cNvPr id="19" name="check-answer-3">
            <a:extLst>
              <a:ext uri="{FF2B5EF4-FFF2-40B4-BE49-F238E27FC236}">
                <a16:creationId xmlns:a16="http://schemas.microsoft.com/office/drawing/2014/main" id="{8D091B09-ED7A-4376-A0EE-9964D64D108B}"/>
              </a:ext>
            </a:extLst>
          </p:cNvPr>
          <p:cNvSpPr>
            <a:spLocks noGrp="1"/>
          </p:cNvSpPr>
          <p:nvPr/>
        </p:nvSpPr>
        <p:spPr>
          <a:xfrm>
            <a:off x="4953000" y="3914775"/>
            <a:ext cx="6191250" cy="400050"/>
          </a:xfrm>
          <a:prstGeom prst="rect">
            <a:avLst/>
          </a:prstGeom>
          <a:noFill/>
          <a:ln w="0">
            <a:noFill/>
            <a:prstDash val="solid"/>
          </a:ln>
        </p:spPr>
        <p:txBody>
          <a:bodyPr lIns="0" tIns="0" rIns="0" bIns="0" anchor="t">
            <a:normAutofit/>
          </a:bodyPr>
          <a:lstStyle/>
          <a:p>
            <a:pPr algn="l">
              <a:defRPr sz="1650" b="0">
                <a:solidFill>
                  <a:srgbClr val="566176"/>
                </a:solidFill>
                <a:latin typeface="Helvetica Neue"/>
                <a:ea typeface="Helvetica Neue"/>
                <a:cs typeface="Helvetica Neue"/>
              </a:defRPr>
            </a:pPr>
            <a:r>
              <a:rPr sz="1650" b="0">
                <a:solidFill>
                  <a:srgbClr val="566176"/>
                </a:solidFill>
                <a:latin typeface="Helvetica Neue"/>
                <a:ea typeface="Helvetica Neue"/>
                <a:cs typeface="Helvetica Neue"/>
              </a:rPr>
              <a:t>Extract it into components/ with colocated CSS.</a:t>
            </a:r>
          </a:p>
        </p:txBody>
      </p:sp>
      <p:sp>
        <p:nvSpPr>
          <p:cNvPr id="20" name="check-circle-4">
            <a:extLst>
              <a:ext uri="{FF2B5EF4-FFF2-40B4-BE49-F238E27FC236}">
                <a16:creationId xmlns:a16="http://schemas.microsoft.com/office/drawing/2014/main" id="{A158AE24-2487-4292-97B4-7CC27A805ED6}"/>
              </a:ext>
            </a:extLst>
          </p:cNvPr>
          <p:cNvSpPr>
            <a:spLocks noGrp="1"/>
          </p:cNvSpPr>
          <p:nvPr/>
        </p:nvSpPr>
        <p:spPr>
          <a:xfrm>
            <a:off x="571500" y="4648200"/>
            <a:ext cx="266700" cy="266700"/>
          </a:xfrm>
          <a:prstGeom prst="roundRect">
            <a:avLst>
              <a:gd name="adj" fmla="val 50000"/>
            </a:avLst>
          </a:prstGeom>
          <a:solidFill>
            <a:srgbClr val="3D8DFF"/>
          </a:solidFill>
          <a:ln w="14288">
            <a:solidFill>
              <a:srgbClr val="3D8DFF"/>
            </a:solidFill>
            <a:prstDash val="solid"/>
          </a:ln>
        </p:spPr>
        <p:txBody>
          <a:bodyPr/>
          <a:lstStyle/>
          <a:p>
            <a:endParaRPr lang="en-US"/>
          </a:p>
        </p:txBody>
      </p:sp>
      <p:sp>
        <p:nvSpPr>
          <p:cNvPr id="21" name="check-mark-4">
            <a:extLst>
              <a:ext uri="{FF2B5EF4-FFF2-40B4-BE49-F238E27FC236}">
                <a16:creationId xmlns:a16="http://schemas.microsoft.com/office/drawing/2014/main" id="{8157EFDA-C746-4AE3-83FA-BFFFC3CE843F}"/>
              </a:ext>
            </a:extLst>
          </p:cNvPr>
          <p:cNvSpPr>
            <a:spLocks noGrp="1"/>
          </p:cNvSpPr>
          <p:nvPr/>
        </p:nvSpPr>
        <p:spPr>
          <a:xfrm>
            <a:off x="609600" y="4648200"/>
            <a:ext cx="190500" cy="266700"/>
          </a:xfrm>
          <a:prstGeom prst="rect">
            <a:avLst/>
          </a:prstGeom>
          <a:noFill/>
          <a:ln w="0">
            <a:noFill/>
            <a:prstDash val="solid"/>
          </a:ln>
        </p:spPr>
        <p:txBody>
          <a:bodyPr lIns="0" tIns="0" rIns="0" bIns="0" anchor="ctr">
            <a:normAutofit/>
          </a:bodyPr>
          <a:lstStyle/>
          <a:p>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t>
            </a:r>
          </a:p>
        </p:txBody>
      </p:sp>
      <p:sp>
        <p:nvSpPr>
          <p:cNvPr id="22" name="check-question-4">
            <a:extLst>
              <a:ext uri="{FF2B5EF4-FFF2-40B4-BE49-F238E27FC236}">
                <a16:creationId xmlns:a16="http://schemas.microsoft.com/office/drawing/2014/main" id="{C2E32699-F43A-4AF3-92C0-EF785E9CC8EA}"/>
              </a:ext>
            </a:extLst>
          </p:cNvPr>
          <p:cNvSpPr>
            <a:spLocks noGrp="1"/>
          </p:cNvSpPr>
          <p:nvPr/>
        </p:nvSpPr>
        <p:spPr>
          <a:xfrm>
            <a:off x="1066800" y="4600575"/>
            <a:ext cx="3619500" cy="400050"/>
          </a:xfrm>
          <a:prstGeom prst="rect">
            <a:avLst/>
          </a:prstGeom>
          <a:noFill/>
          <a:ln w="0">
            <a:noFill/>
            <a:prstDash val="solid"/>
          </a:ln>
        </p:spPr>
        <p:txBody>
          <a:bodyPr lIns="0" tIns="0" rIns="0" bIns="0" anchor="t">
            <a:normAutofit/>
          </a:bodyPr>
          <a:lstStyle/>
          <a:p>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Repeated stateful behavior?</a:t>
            </a:r>
          </a:p>
        </p:txBody>
      </p:sp>
      <p:sp>
        <p:nvSpPr>
          <p:cNvPr id="23" name="check-answer-4">
            <a:extLst>
              <a:ext uri="{FF2B5EF4-FFF2-40B4-BE49-F238E27FC236}">
                <a16:creationId xmlns:a16="http://schemas.microsoft.com/office/drawing/2014/main" id="{A77CF11B-0EC0-429E-947E-0FD8DE780CD5}"/>
              </a:ext>
            </a:extLst>
          </p:cNvPr>
          <p:cNvSpPr>
            <a:spLocks noGrp="1"/>
          </p:cNvSpPr>
          <p:nvPr/>
        </p:nvSpPr>
        <p:spPr>
          <a:xfrm>
            <a:off x="4953000" y="4600575"/>
            <a:ext cx="6191250" cy="400050"/>
          </a:xfrm>
          <a:prstGeom prst="rect">
            <a:avLst/>
          </a:prstGeom>
          <a:noFill/>
          <a:ln w="0">
            <a:noFill/>
            <a:prstDash val="solid"/>
          </a:ln>
        </p:spPr>
        <p:txBody>
          <a:bodyPr lIns="0" tIns="0" rIns="0" bIns="0" anchor="t">
            <a:normAutofit/>
          </a:bodyPr>
          <a:lstStyle/>
          <a:p>
            <a:pPr algn="l">
              <a:defRPr sz="1650" b="0">
                <a:solidFill>
                  <a:srgbClr val="566176"/>
                </a:solidFill>
                <a:latin typeface="Helvetica Neue"/>
                <a:ea typeface="Helvetica Neue"/>
                <a:cs typeface="Helvetica Neue"/>
              </a:defRPr>
            </a:pPr>
            <a:r>
              <a:rPr sz="1650" b="0">
                <a:solidFill>
                  <a:srgbClr val="566176"/>
                </a:solidFill>
                <a:latin typeface="Helvetica Neue"/>
                <a:ea typeface="Helvetica Neue"/>
                <a:cs typeface="Helvetica Neue"/>
              </a:rPr>
              <a:t>Create a focused hook in hooks/.</a:t>
            </a:r>
          </a:p>
        </p:txBody>
      </p:sp>
      <p:sp>
        <p:nvSpPr>
          <p:cNvPr id="24" name="check-circle-5">
            <a:extLst>
              <a:ext uri="{FF2B5EF4-FFF2-40B4-BE49-F238E27FC236}">
                <a16:creationId xmlns:a16="http://schemas.microsoft.com/office/drawing/2014/main" id="{9D571135-AF1C-41B1-A671-71910F3B101A}"/>
              </a:ext>
            </a:extLst>
          </p:cNvPr>
          <p:cNvSpPr>
            <a:spLocks noGrp="1"/>
          </p:cNvSpPr>
          <p:nvPr/>
        </p:nvSpPr>
        <p:spPr>
          <a:xfrm>
            <a:off x="571500" y="5334000"/>
            <a:ext cx="266700" cy="266700"/>
          </a:xfrm>
          <a:prstGeom prst="roundRect">
            <a:avLst>
              <a:gd name="adj" fmla="val 50000"/>
            </a:avLst>
          </a:prstGeom>
          <a:solidFill>
            <a:srgbClr val="3D8DFF"/>
          </a:solidFill>
          <a:ln w="14288">
            <a:solidFill>
              <a:srgbClr val="3D8DFF"/>
            </a:solidFill>
            <a:prstDash val="solid"/>
          </a:ln>
        </p:spPr>
        <p:txBody>
          <a:bodyPr/>
          <a:lstStyle/>
          <a:p>
            <a:endParaRPr lang="en-US"/>
          </a:p>
        </p:txBody>
      </p:sp>
      <p:sp>
        <p:nvSpPr>
          <p:cNvPr id="25" name="check-mark-5">
            <a:extLst>
              <a:ext uri="{FF2B5EF4-FFF2-40B4-BE49-F238E27FC236}">
                <a16:creationId xmlns:a16="http://schemas.microsoft.com/office/drawing/2014/main" id="{EFE9B294-CCCC-4522-BA28-877C2B70CC03}"/>
              </a:ext>
            </a:extLst>
          </p:cNvPr>
          <p:cNvSpPr>
            <a:spLocks noGrp="1"/>
          </p:cNvSpPr>
          <p:nvPr/>
        </p:nvSpPr>
        <p:spPr>
          <a:xfrm>
            <a:off x="609600" y="5334000"/>
            <a:ext cx="190500" cy="266700"/>
          </a:xfrm>
          <a:prstGeom prst="rect">
            <a:avLst/>
          </a:prstGeom>
          <a:noFill/>
          <a:ln w="0">
            <a:noFill/>
            <a:prstDash val="solid"/>
          </a:ln>
        </p:spPr>
        <p:txBody>
          <a:bodyPr lIns="0" tIns="0" rIns="0" bIns="0" anchor="ctr">
            <a:normAutofit/>
          </a:bodyPr>
          <a:lstStyle/>
          <a:p>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t>
            </a:r>
          </a:p>
        </p:txBody>
      </p:sp>
      <p:sp>
        <p:nvSpPr>
          <p:cNvPr id="26" name="check-question-5">
            <a:extLst>
              <a:ext uri="{FF2B5EF4-FFF2-40B4-BE49-F238E27FC236}">
                <a16:creationId xmlns:a16="http://schemas.microsoft.com/office/drawing/2014/main" id="{C7F45690-8776-4B76-B6BF-4CDE4438CEDB}"/>
              </a:ext>
            </a:extLst>
          </p:cNvPr>
          <p:cNvSpPr>
            <a:spLocks noGrp="1"/>
          </p:cNvSpPr>
          <p:nvPr/>
        </p:nvSpPr>
        <p:spPr>
          <a:xfrm>
            <a:off x="1066800" y="5286375"/>
            <a:ext cx="3619500" cy="400050"/>
          </a:xfrm>
          <a:prstGeom prst="rect">
            <a:avLst/>
          </a:prstGeom>
          <a:noFill/>
          <a:ln w="0">
            <a:noFill/>
            <a:prstDash val="solid"/>
          </a:ln>
        </p:spPr>
        <p:txBody>
          <a:bodyPr lIns="0" tIns="0" rIns="0" bIns="0" anchor="t">
            <a:normAutofit/>
          </a:bodyPr>
          <a:lstStyle/>
          <a:p>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Authentication rule changed?</a:t>
            </a:r>
          </a:p>
        </p:txBody>
      </p:sp>
      <p:sp>
        <p:nvSpPr>
          <p:cNvPr id="27" name="check-answer-5">
            <a:extLst>
              <a:ext uri="{FF2B5EF4-FFF2-40B4-BE49-F238E27FC236}">
                <a16:creationId xmlns:a16="http://schemas.microsoft.com/office/drawing/2014/main" id="{2D5DE68E-DD45-4396-9625-EE736D77BC41}"/>
              </a:ext>
            </a:extLst>
          </p:cNvPr>
          <p:cNvSpPr>
            <a:spLocks noGrp="1"/>
          </p:cNvSpPr>
          <p:nvPr/>
        </p:nvSpPr>
        <p:spPr>
          <a:xfrm>
            <a:off x="4953000" y="5286375"/>
            <a:ext cx="6191250" cy="400050"/>
          </a:xfrm>
          <a:prstGeom prst="rect">
            <a:avLst/>
          </a:prstGeom>
          <a:noFill/>
          <a:ln w="0">
            <a:noFill/>
            <a:prstDash val="solid"/>
          </a:ln>
        </p:spPr>
        <p:txBody>
          <a:bodyPr lIns="0" tIns="0" rIns="0" bIns="0" anchor="t">
            <a:normAutofit/>
          </a:bodyPr>
          <a:lstStyle/>
          <a:p>
            <a:pPr algn="l">
              <a:defRPr sz="1650" b="0">
                <a:solidFill>
                  <a:srgbClr val="566176"/>
                </a:solidFill>
                <a:latin typeface="Helvetica Neue"/>
                <a:ea typeface="Helvetica Neue"/>
                <a:cs typeface="Helvetica Neue"/>
              </a:defRPr>
            </a:pPr>
            <a:r>
              <a:rPr sz="1650" b="0">
                <a:solidFill>
                  <a:srgbClr val="566176"/>
                </a:solidFill>
                <a:latin typeface="Helvetica Neue"/>
                <a:ea typeface="Helvetica Neue"/>
                <a:cs typeface="Helvetica Neue"/>
              </a:rPr>
              <a:t>Update auth/ and keep backend enforcement.</a:t>
            </a:r>
          </a:p>
        </p:txBody>
      </p:sp>
      <p:sp>
        <p:nvSpPr>
          <p:cNvPr id="28" name="source-15">
            <a:extLst>
              <a:ext uri="{FF2B5EF4-FFF2-40B4-BE49-F238E27FC236}">
                <a16:creationId xmlns:a16="http://schemas.microsoft.com/office/drawing/2014/main" id="{DF296517-42F5-4AB7-9546-5BA34BF675B8}"/>
              </a:ext>
            </a:extLst>
          </p:cNvPr>
          <p:cNvSpPr>
            <a:spLocks noGrp="1"/>
          </p:cNvSpPr>
          <p:nvPr/>
        </p:nvSpPr>
        <p:spPr>
          <a:xfrm>
            <a:off x="400050" y="6334125"/>
            <a:ext cx="5143500" cy="190500"/>
          </a:xfrm>
          <a:prstGeom prst="rect">
            <a:avLst/>
          </a:prstGeom>
          <a:noFill/>
          <a:ln w="0">
            <a:noFill/>
            <a:prstDash val="solid"/>
          </a:ln>
        </p:spPr>
        <p:txBody>
          <a:bodyPr lIns="0" tIns="0" rIns="0" bIns="0" anchor="t">
            <a:normAutofit/>
          </a:bodyPr>
          <a:lstStyle/>
          <a:p>
            <a:pPr algn="l">
              <a:defRPr sz="975" b="0">
                <a:solidFill>
                  <a:srgbClr val="566176"/>
                </a:solidFill>
                <a:latin typeface="Helvetica Neue"/>
                <a:ea typeface="Helvetica Neue"/>
                <a:cs typeface="Helvetica Neue"/>
              </a:defRPr>
            </a:pPr>
            <a:r>
              <a:rPr sz="975" b="0">
                <a:solidFill>
                  <a:srgbClr val="566176"/>
                </a:solidFill>
                <a:latin typeface="Helvetica Neue"/>
                <a:ea typeface="Helvetica Neue"/>
                <a:cs typeface="Helvetica Neue"/>
              </a:rPr>
              <a:t>deepakbabel23/minitrack • mt_frontend_react</a:t>
            </a:r>
          </a:p>
        </p:txBody>
      </p:sp>
      <p:sp>
        <p:nvSpPr>
          <p:cNvPr id="29" name="slide-number-15">
            <a:extLst>
              <a:ext uri="{FF2B5EF4-FFF2-40B4-BE49-F238E27FC236}">
                <a16:creationId xmlns:a16="http://schemas.microsoft.com/office/drawing/2014/main" id="{6C99064B-9007-4F70-949C-C96EF8EAC28B}"/>
              </a:ext>
            </a:extLst>
          </p:cNvPr>
          <p:cNvSpPr>
            <a:spLocks noGrp="1"/>
          </p:cNvSpPr>
          <p:nvPr/>
        </p:nvSpPr>
        <p:spPr>
          <a:xfrm>
            <a:off x="11334750" y="6334125"/>
            <a:ext cx="457200" cy="190500"/>
          </a:xfrm>
          <a:prstGeom prst="rect">
            <a:avLst/>
          </a:prstGeom>
          <a:noFill/>
          <a:ln w="0">
            <a:noFill/>
            <a:prstDash val="solid"/>
          </a:ln>
        </p:spPr>
        <p:txBody>
          <a:bodyPr lIns="0" tIns="0" rIns="0" bIns="0" anchor="t">
            <a:normAutofit/>
          </a:bodyPr>
          <a:lstStyle/>
          <a:p>
            <a:pPr algn="r">
              <a:defRPr sz="1050" b="0">
                <a:solidFill>
                  <a:srgbClr val="566176"/>
                </a:solidFill>
                <a:latin typeface="Helvetica Neue"/>
                <a:ea typeface="Helvetica Neue"/>
                <a:cs typeface="Helvetica Neue"/>
              </a:defRPr>
            </a:pPr>
            <a:r>
              <a:rPr sz="1050" b="0">
                <a:solidFill>
                  <a:srgbClr val="566176"/>
                </a:solidFill>
                <a:latin typeface="Helvetica Neue"/>
                <a:ea typeface="Helvetica Neue"/>
                <a:cs typeface="Helvetica Neue"/>
              </a:rPr>
              <a:t>15</a:t>
            </a:r>
          </a:p>
        </p:txBody>
      </p:sp>
    </p:spTree>
    <p:extLst>
      <p:ext uri="{BB962C8B-B14F-4D97-AF65-F5344CB8AC3E}">
        <p14:creationId xmlns:p14="http://schemas.microsoft.com/office/powerpoint/2010/main" val="173947316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807</Words>
  <Application>Microsoft Macintosh PowerPoint</Application>
  <DocSecurity>0</DocSecurity>
  <PresentationFormat>Widescreen</PresentationFormat>
  <Paragraphs>86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Courier New</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e3usr1</cp:lastModifiedBy>
  <cp:revision>1</cp:revision>
  <dcterms:created xsi:type="dcterms:W3CDTF">2026-07-19T13:49:17Z</dcterms:created>
  <dcterms:modified xsi:type="dcterms:W3CDTF">2026-07-19T13:56:52Z</dcterms:modified>
</cp:coreProperties>
</file>