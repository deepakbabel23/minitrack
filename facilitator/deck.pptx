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2011680"/>
            <a:ext cx="6400800" cy="640080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8580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7CDFF"/>
                </a:solidFill>
                <a:latin typeface="Arial"/>
              </a:rPr>
              <a:t>K21 ACADEMY · COURSE 2606: CLAUDE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87782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Build MiniTrack's
frontend — </a:t>
            </a:r>
            <a:r>
              <a:rPr sz="4600" b="1" i="0">
                <a:solidFill>
                  <a:srgbClr val="C7CDFF"/>
                </a:solidFill>
                <a:latin typeface="Arial"/>
              </a:rPr>
              <a:t>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80467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2FF"/>
                </a:solidFill>
                <a:latin typeface="Arial"/>
              </a:rPr>
              <a:t>A finished design system on one side, a real API contract on the other. In eight prompted acts, we turn them into a complete, accessible React + Vite app — and let a reviewer agent and tests prove it's 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5B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67528"/>
            <a:ext cx="26974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React + Vite +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5349240"/>
            <a:ext cx="3683203" cy="384048"/>
          </a:xfrm>
          <a:prstGeom prst="roundRect">
            <a:avLst>
              <a:gd name="adj" fmla="val 50000"/>
            </a:avLst>
          </a:prstGeom>
          <a:solidFill>
            <a:srgbClr val="5B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5367528"/>
            <a:ext cx="368320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Design system: "MiniTrack Precision"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5123" y="5349240"/>
            <a:ext cx="3503980" cy="384048"/>
          </a:xfrm>
          <a:prstGeom prst="roundRect">
            <a:avLst>
              <a:gd name="adj" fmla="val 50000"/>
            </a:avLst>
          </a:prstGeom>
          <a:solidFill>
            <a:srgbClr val="5B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8003" y="5367528"/>
            <a:ext cx="35039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Plan → Implement → Review →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C7CDFF"/>
                </a:solidFill>
                <a:latin typeface="Arial"/>
              </a:rPr>
              <a:t>  · Live Build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1371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7CDFF"/>
                </a:solidFill>
                <a:latin typeface="Consolas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Five screens. Nothing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Arial"/>
              </a:rPr>
              <a:t>MiniTrack is a minimalist task tracker. You connect with an API key, then view, create, edit, complete, and delete simple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onsolas"/>
              </a:rPr>
              <a:t>/connect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Enter an API key (no accounts). Show/hide field, opt-in remember, inline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51460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71576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onsolas"/>
              </a:rPr>
              <a:t>/tasks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15468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Filter All / Active / Completed, task cards, Load more, inline complete &amp; delete.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51460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onsolas"/>
              </a:rPr>
              <a:t>/tasks/:id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15468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One task, its badges, and only the actions that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9884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onsolas"/>
              </a:rPr>
              <a:t>/tasks/new ·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One shared form for create and edit, with matching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429768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449884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Consolas"/>
              </a:rPr>
              <a:t>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93776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A friendly Not-Found with a way 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4297680"/>
            <a:ext cx="3419856" cy="160020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4498848"/>
            <a:ext cx="30083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12E81"/>
                </a:solidFill>
                <a:latin typeface="Arial"/>
              </a:rPr>
              <a:t>The 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4937760"/>
            <a:ext cx="3008376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12E81"/>
                </a:solidFill>
                <a:latin typeface="Arial"/>
              </a:rPr>
              <a:t>A task is ONLY id, title, description, priority, completed. No dates, assignees, tags — or Reopen.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02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3273552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327355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WHERE THE BUILD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Two inputs feed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663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🎨  A design system, as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Generated as "MiniTrack Precision" and handed to us finished — we consume it as-is.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6634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DESIGN.md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— the written 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tokens.css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— colors, type, spacing, radius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typography.css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— .text-headline-* utilities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components.css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— .btn · .form-field · .badge · .task-card · .dialog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65960"/>
            <a:ext cx="51663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🔌  A real backend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9748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A FastAPI + SQLite JSON API — decoupled, CORS-enabled, key-protected.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429000"/>
            <a:ext cx="46634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The app/ layered backend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(routes → services → data)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0" i="0">
                <a:solidFill>
                  <a:srgbClr val="475569"/>
                </a:solidFill>
                <a:latin typeface="Arial"/>
              </a:rPr>
              <a:t>The behavioral contract in spec.md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0" i="0">
                <a:solidFill>
                  <a:srgbClr val="475569"/>
                </a:solidFill>
                <a:latin typeface="Arial"/>
              </a:rPr>
              <a:t>Auth via an X-API-Key header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Four contract details</a:t>
            </a:r>
            <a:r>
              <a:rPr sz="1250" b="0" i="0">
                <a:solidFill>
                  <a:srgbClr val="475569"/>
                </a:solidFill>
                <a:latin typeface="Arial"/>
              </a:rPr>
              <a:t> that bite if ignored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03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4425696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4425696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OPTIONAL ASIDE · DESIGN-TO-CODE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Arial"/>
              </a:rPr>
              <a:t>The design system didn't appear by magic.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It was generated from a one-paragraph brief by a design tool — Google Stitch — and you can prototype the same brief in Figma Make. Same words, two tools; the tokens they produce are exactly what our CSS encodes.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5989320" cy="320040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83464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6" y="283464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6464" y="283464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761488"/>
            <a:ext cx="4892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Stitch / Figma Make —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54680"/>
            <a:ext cx="5532120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Design "MiniTrack" — a minimalist task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tracker. Corporate Minimalism: near-white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bg, white surfaces, Indigo #4f46e5 primary,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Inter, 4px spacing, 8px cards, pill badges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(icon + label), 3 soft elevation levels,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centered 880px.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onsolas"/>
              </a:rPr>
              <a:t># then: generate the 5 screens, no new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651760"/>
            <a:ext cx="4325112" cy="14173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761488"/>
            <a:ext cx="457200" cy="1234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Arial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79776"/>
            <a:ext cx="3502152" cy="12161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12E81"/>
                </a:solidFill>
                <a:latin typeface="Arial"/>
              </a:rPr>
              <a:t>THE POINT  </a:t>
            </a:r>
            <a:r>
              <a:rPr sz="1200" b="0" i="0">
                <a:solidFill>
                  <a:srgbClr val="312E81"/>
                </a:solidFill>
                <a:latin typeface="Arial"/>
              </a:rPr>
              <a:t>The prototype is a picture to aim at. The CSS in src/styles/ (see preview.html) is what Acts 1–8 consume.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251960"/>
            <a:ext cx="4325112" cy="1600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4361688"/>
            <a:ext cx="45720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379976"/>
            <a:ext cx="3502152" cy="1399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These tools invent due dates / assignees if asked — resist it. Never paste a real API key into a design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04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173736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Every act is one PIRV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04241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Arial"/>
              </a:rPr>
              <a:t>We don't make the smallest possible edit. We plan the slice, implement it in the right place, review it against the contract, and verify it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2551176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F46E5"/>
                </a:solidFill>
                <a:latin typeface="Consolas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20440"/>
            <a:ext cx="20939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0939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Name the slice and the contract rules it must honor — before any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3520440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606040"/>
            <a:ext cx="2551176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4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F46E5"/>
                </a:solidFill>
                <a:latin typeface="Consolas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3520440"/>
            <a:ext cx="20939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3931920"/>
            <a:ext cx="20939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Prompt Claude to build it, with the gotchas baked into the prompt.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520440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606040"/>
            <a:ext cx="2551176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F46E5"/>
                </a:solidFill>
                <a:latin typeface="Consola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520440"/>
            <a:ext cx="20939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931920"/>
            <a:ext cx="20939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A read-only frontend-reviewer agent checks it against spec.md.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520440"/>
            <a:ext cx="228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606040"/>
            <a:ext cx="2551176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4F46E5"/>
                </a:solidFill>
                <a:latin typeface="Consolas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520440"/>
            <a:ext cx="209397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931920"/>
            <a:ext cx="20939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Run it: dev server, typecheck, lint, and the Vitest suite.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0352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413248"/>
            <a:ext cx="457200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31536"/>
            <a:ext cx="9720072" cy="5760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66534"/>
                </a:solidFill>
                <a:latin typeface="Arial"/>
              </a:rPr>
              <a:t>WHY IT MATTERS HERE  </a:t>
            </a:r>
            <a:r>
              <a:rPr sz="1200" b="0" i="0">
                <a:solidFill>
                  <a:srgbClr val="166534"/>
                </a:solidFill>
                <a:latin typeface="Arial"/>
              </a:rPr>
              <a:t>The first build hit the contract's sharp edges the hard way. This time we front-load them, so the live build is right the first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05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4041648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404164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DESIGN SYSTEM, ON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"MiniTrack Precision" — corporate minimalism.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#4f46e5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2616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Hover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#4338ca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#16a34a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#dc2626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172A"/>
                </a:solidFill>
                <a:latin typeface="Arial"/>
              </a:rPr>
              <a:t>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#f8fafc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874519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967" y="2395728"/>
            <a:ext cx="14630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834640"/>
            <a:ext cx="1664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#0f172a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29000"/>
            <a:ext cx="594360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370332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12463"/>
            <a:ext cx="1609344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Create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43784" y="3703320"/>
            <a:ext cx="90525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43784" y="3712463"/>
            <a:ext cx="90525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Edit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3703320"/>
            <a:ext cx="1106424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3712463"/>
            <a:ext cx="1106424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Delete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21224" y="3703320"/>
            <a:ext cx="1106424" cy="45720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1224" y="3712463"/>
            <a:ext cx="1106424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Arial"/>
              </a:rPr>
              <a:t>Cancel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16052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160520"/>
            <a:ext cx="93268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991B1B"/>
                </a:solidFill>
                <a:latin typeface="Arial"/>
              </a:rPr>
              <a:t>▲ 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12264" y="4160520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2264" y="4160520"/>
            <a:ext cx="11155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92400E"/>
                </a:solidFill>
                <a:latin typeface="Arial"/>
              </a:rPr>
              <a:t>● 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5848" y="4160520"/>
            <a:ext cx="841247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5848" y="4160520"/>
            <a:ext cx="841247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Arial"/>
              </a:rPr>
              <a:t>▼ 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5112" y="4160520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4160520"/>
            <a:ext cx="93268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75569"/>
                </a:solidFill>
                <a:latin typeface="Arial"/>
              </a:rPr>
              <a:t>Active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85816" y="4160520"/>
            <a:ext cx="1389888" cy="32918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85816" y="4160520"/>
            <a:ext cx="138988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66534"/>
                </a:solidFill>
                <a:latin typeface="Arial"/>
              </a:rPr>
              <a:t>✓ 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3429000"/>
            <a:ext cx="4370832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269480" y="37033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7C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3657600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Draft the Q3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402336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Pull the numbers, summarize wins, flag the two risks from last review.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26679" y="4709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26679" y="470916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991B1B"/>
                </a:solidFill>
                <a:latin typeface="Arial"/>
              </a:rPr>
              <a:t>▲ High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4709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470916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75569"/>
                </a:solidFill>
                <a:latin typeface="Arial"/>
              </a:rPr>
              <a:t>Active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Arial"/>
              </a:rPr>
              <a:t>4px spacing base · soft radii (4 / 8 / 12px) · three elevation levels · badges are never color alone — always icon + label.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06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4553712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455371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LEARNINGS — FRONT-LOAD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Four details that bit the first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91B1B"/>
                </a:solidFill>
                <a:latin typeface="Arial"/>
              </a:rPr>
              <a:t>① 422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63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1B1B"/>
                </a:solidFill>
                <a:latin typeface="Arial"/>
              </a:rPr>
              <a:t>detail is a plain STRING, not an array. Never index detail[0].msg.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1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91B1B"/>
                </a:solidFill>
                <a:latin typeface="Arial"/>
              </a:rPr>
              <a:t>② PATCH /tasks/{id}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663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1B1B"/>
                </a:solidFill>
                <a:latin typeface="Arial"/>
              </a:rPr>
              <a:t>A full replacement — send the whole object; omitted fields reset; can't change completed.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7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1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91B1B"/>
                </a:solidFill>
                <a:latin typeface="Arial"/>
              </a:rPr>
              <a:t>③ 401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83279"/>
            <a:ext cx="4663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1B1B"/>
                </a:solidFill>
                <a:latin typeface="Arial"/>
              </a:rPr>
              <a:t>Has NO request_id (404/422 do). Treat it as optional.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2607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1"/>
            <a:ext cx="4663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91B1B"/>
                </a:solidFill>
                <a:latin typeface="Arial"/>
              </a:rPr>
              <a:t>④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79"/>
            <a:ext cx="4663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91B1B"/>
                </a:solidFill>
                <a:latin typeface="Arial"/>
              </a:rPr>
              <a:t>Validate the key against GET /tasks, NOT /health (health ignores the key).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4114800"/>
          <a:ext cx="105430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834640"/>
                <a:gridCol w="6428232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101600" marT="38100" marB="3810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PATH</a:t>
                      </a:r>
                    </a:p>
                  </a:txBody>
                  <a:tcPr marL="101600" marT="38100" marB="3810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101600" marT="38100" marB="38100">
                    <a:solidFill>
                      <a:srgbClr val="EEF2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46E5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12E81"/>
                          </a:solidFill>
                          <a:latin typeface="Consolas"/>
                        </a:rPr>
                        <a:t>/tasks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filter ?completed, page ?limit&amp;offset — no total count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46E5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12E81"/>
                          </a:solidFill>
                          <a:latin typeface="Consolas"/>
                        </a:rPr>
                        <a:t>/tasks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→ 201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46E5"/>
                          </a:solidFill>
                          <a:latin typeface="Consolas"/>
                        </a:rPr>
                        <a:t>PATCH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12E81"/>
                          </a:solidFill>
                          <a:latin typeface="Consolas"/>
                        </a:rPr>
                        <a:t>/tasks/{id}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full replacement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46E5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12E81"/>
                          </a:solidFill>
                          <a:latin typeface="Consolas"/>
                        </a:rPr>
                        <a:t>/tasks/{id}/complete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one-way — no reopen endpoint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F46E5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12E81"/>
                          </a:solidFill>
                          <a:latin typeface="Consolas"/>
                        </a:rPr>
                        <a:t>/tasks/{id}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75569"/>
                          </a:solidFill>
                          <a:latin typeface="Arial"/>
                        </a:rPr>
                        <a:t>→ 204, needs a confirm dialog</a:t>
                      </a:r>
                    </a:p>
                  </a:txBody>
                  <a:tcPr marL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07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212140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BUILD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Eight acts — one commit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Scaffold +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ab8d9c6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01168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1168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21284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56032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Task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06324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9d01446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01168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2784" y="201168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21284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56032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Create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06324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1eb8c15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201168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97696" y="201168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221284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256032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Task 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06324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2aaf787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0332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370332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90448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5196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Edit + useFlash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7a30a7d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7872" y="370332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47872" y="370332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390448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1" y="425196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Mid-session 401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1" y="475488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d313a63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370332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72784" y="370332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7104" y="390448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425196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Review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75488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1a0bf22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7696" y="3703320"/>
            <a:ext cx="2551176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97696" y="3703320"/>
            <a:ext cx="73152" cy="1463040"/>
          </a:xfrm>
          <a:prstGeom prst="roundRect">
            <a:avLst>
              <a:gd name="adj" fmla="val 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6" y="3904488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F46E5"/>
                </a:solidFill>
                <a:latin typeface="Consolas"/>
              </a:rPr>
              <a:t>ACT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4251960"/>
            <a:ext cx="20939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Tests + verify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4754880"/>
            <a:ext cx="20939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13ec334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34924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458968"/>
            <a:ext cx="457200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Arial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477255"/>
            <a:ext cx="9720072" cy="5760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12E81"/>
                </a:solidFill>
                <a:latin typeface="Arial"/>
              </a:rPr>
              <a:t>RHYTHM PER ACT  </a:t>
            </a:r>
            <a:r>
              <a:rPr sz="1200" b="0" i="0">
                <a:solidFill>
                  <a:srgbClr val="312E81"/>
                </a:solidFill>
                <a:latin typeface="Arial"/>
              </a:rPr>
              <a:t>Say the goal → paste the prompt → watch the screen → call out the gotcha → verify. Each act is a checkpoint to stop and discuss at.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08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1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Scaffold + design system +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ab8d9c6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Stand up Vite + React + TS in frontend/, wire in the delivered CSS, and build the API-key entry point. You connect — you don't sign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minitrack_backend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4A3B8"/>
                </a:solidFill>
                <a:latin typeface="Consolas"/>
              </a:rPr>
              <a:t># paste into Claude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Scaffold a Vite React+TS app in frontend/.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Copy DESIGN.md + src/styles/*.css in 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import index.css once. Style with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design system's global classes — no new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CSS Modules. Add router + ProtectedRoute,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a fetch client (X-API-Key, status:0 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network fail), ApiKeyContext, and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/connect page validating via GET /tasks.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Wire the design system: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one index.css import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Typed client: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no React import — unit-testable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Key safety: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in memory; sessionStorage opt-in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Validate against GET /tasks, not /health — health accepts any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npm run dev → the Connect screen renders in Indigo; a wrong key is rejected, demo-key-123 lands on /tasks.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09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2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Task list — filters &amp; Load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9d01446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The primary screen: URL-driven filters and pagination with no total 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frontend/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Build /tasks with a .task-card list 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.badge priority/status (icon + label,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never color alone). Filter All/Active/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Completed in the URL (?status=).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Pagination is Load more: append, raise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offset, hide when a short page returns,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reset on filter change. Complete in place;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Delete via a .dialog confirm. loading 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empty / error states, aria-live.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Filter state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lives in ?status=active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Complete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→ POST /tasks/{id}/complete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Delete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→ accessible &lt;dialog&gt; → 204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No total → Load more, hidden on a short page, reset on filter change. No numbered pages.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filter chips change the URL &amp; list; Complete moves a task; Delete asks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10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3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Create — shared form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1eb8c15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A reusable &lt;TaskForm&gt; and validation that matches the backend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frontend/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Build /tasks/new → POST /tasks (201).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Extract a reusable &lt;TaskForm&gt; + &lt;FormField&gt;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on the .form-field classes, shared with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edit. Title required (trim; block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whitespace-only before any request).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Priority default medium. Disable submit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in flight. On 422, render the detail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STRING inline — never detail[0].msg.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Trim &amp; block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whitespace-only titles client-side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No double POST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— disable while submitting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Reuse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the same form for 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422 detail is a string. detail[0].msg throws.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a blank title is blocked before any call; a forced 422 renders its string inline.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11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4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Task detail — only real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2aaf787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Model the screen as explicit states, and expose only capabilities the API has.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frontend/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Build /tasks/:taskId → GET /tasks/{id}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a discriminated union: loading | loaded 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notfound | error. Show id, title,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description, badges. Actions: Edit,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Complete (only when active), Delete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CA5A5"/>
                </a:solidFill>
                <a:latin typeface="Consolas"/>
              </a:rPr>
              <a:t>(confirm), Back. No "Reopen" action.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Unknown id → 404 → "Task not found".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State machine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, not scattered booleans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Complete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hides once done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404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is a first-class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No Reopen — completion is one-way; the backend has no un-complete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a completed task shows no Reopen; /tasks/999999 → "Task not found."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12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5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Edit — the full-replacement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7a30a7d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The subtlest rule of the day, plus a small shared-hook refactor.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frontend/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Build /tasks/:taskId/edit → PATCH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/tasks/{id}, reusing &lt;TaskForm&gt; in edit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mode (load, pre-fill). PATCH is a FULL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replacement: submit the entire TaskInput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every time — never partial — and never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CA5A5"/>
                </a:solidFill>
                <a:latin typeface="Consolas"/>
              </a:rPr>
              <a:t>send or touch completed.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Extract a shared useFlash hook; reuse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Load first,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then pre-fill the fields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Whole object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on every save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useFlash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shared across screens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Send only the changed field and PATCH silently wipes the rest. Never include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edit only the title → description &amp; priority are preserved, not reset.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13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Consolas"/>
              </a:rPr>
              <a:t>ACT 6   </a:t>
            </a:r>
            <a:r>
              <a:rPr sz="2100" b="1" i="0">
                <a:solidFill>
                  <a:srgbClr val="0F172A"/>
                </a:solidFill>
                <a:latin typeface="Arial"/>
              </a:rPr>
              <a:t>Mid-session 401 — reset the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03504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Consolas"/>
              </a:rPr>
              <a:t>↔ d313a63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Handle a key that stops working after you connected — revoked or expired.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172200" cy="324612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2402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2402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2402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50749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claude — frontend/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5715000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Add setUnauthorizedHandler to the client.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A5B4FC"/>
                </a:solidFill>
                <a:latin typeface="Consolas"/>
              </a:rPr>
              <a:t>On any /tasks* 401 with a stored key: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clear the key (memory + sessionStorage),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record a reason, and redirect to /connect,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which shows that reason. Remember a 401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CA5A5"/>
                </a:solidFill>
                <a:latin typeface="Consolas"/>
              </a:rPr>
              <a:t>has no request_id — don't rely on it 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0233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Global handler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in the client, not per-screen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Clear + redirect,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don't just show an error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1" i="0">
                <a:solidFill>
                  <a:srgbClr val="0F172A"/>
                </a:solidFill>
                <a:latin typeface="Arial"/>
              </a:rPr>
              <a:t>Reason</a:t>
            </a:r>
            <a:r>
              <a:rPr sz="1200" b="0" i="0">
                <a:solidFill>
                  <a:srgbClr val="475569"/>
                </a:solidFill>
                <a:latin typeface="Arial"/>
              </a:rPr>
              <a:t> surfaced on the Connect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4572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59935"/>
            <a:ext cx="3227832" cy="11704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Show an in-place error and the user is stuck on a screen that can't load. Reset the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6534"/>
                </a:solidFill>
                <a:latin typeface="Arial"/>
              </a:rPr>
              <a:t>✔ Verify — change the backend key mid-session → the next action bounces to /connect with the reason.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14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4041648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404164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ACTS 7 &amp; 8 · REVIEW +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Close the loop — an agent, then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66360" cy="3840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Arial"/>
              </a:rPr>
              <a:t>ACT 7 · Review   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1a0bf22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663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A read-only frontend-reviewer subagent checks the build against spec.md: invented features, wrong endpoints, partial PATCH, key exposure, missing states, accessibility.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6634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Move focus to "Tasks" + announce after actions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Extract a shared toDisplayError helper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F46E5"/>
                </a:solidFill>
                <a:latin typeface="Arial"/>
              </a:rPr>
              <a:t>▪  </a:t>
            </a:r>
            <a:r>
              <a:rPr sz="1200" b="0" i="0">
                <a:solidFill>
                  <a:srgbClr val="475569"/>
                </a:solidFill>
                <a:latin typeface="Arial"/>
              </a:rPr>
              <a:t>Confirm .env is gitignored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65960"/>
            <a:ext cx="5166360" cy="3840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F46E5"/>
                </a:solidFill>
                <a:latin typeface="Arial"/>
              </a:rPr>
              <a:t>ACT 8 · Verify   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13ec334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51760"/>
            <a:ext cx="46634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A Vitest + RTL suite locks the load-bearing behaviors, plus a MANUAL_TESTING.md for the keyboard / screen-reader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3657600"/>
            <a:ext cx="4617720" cy="1783080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4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3840480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76288" y="3840480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77456" y="3840480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3767328"/>
            <a:ext cx="3520439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frontend/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4160520"/>
            <a:ext cx="416052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npm run typecheck &amp;&amp; npm run lint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&amp;&amp; npm 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86EFAC"/>
                </a:solidFill>
                <a:latin typeface="Consolas"/>
              </a:rPr>
              <a:t>✓ client · connect · load-more 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86EFAC"/>
                </a:solidFill>
                <a:latin typeface="Consolas"/>
              </a:rPr>
              <a:t>  detail · edit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943600"/>
            <a:ext cx="10543032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053328"/>
            <a:ext cx="4572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071616"/>
            <a:ext cx="9720072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91B1B"/>
                </a:solidFill>
                <a:latin typeface="Arial"/>
              </a:rPr>
              <a:t>GOTCHA  </a:t>
            </a:r>
            <a:r>
              <a:rPr sz="1200" b="0" i="0">
                <a:solidFill>
                  <a:srgbClr val="991B1B"/>
                </a:solidFill>
                <a:latin typeface="Arial"/>
              </a:rPr>
              <a:t>Native &lt;dialog&gt; needs a jsdom polyfill (showModal / close) or the dialog tests fail.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15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66928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85216"/>
            <a:ext cx="96926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F46E5"/>
                </a:solidFill>
                <a:latin typeface="Arial"/>
              </a:rPr>
              <a:t>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What they take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41985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3008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Not typing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30083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The value was front-loading the contract so the build was right the first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965960"/>
            <a:ext cx="341985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94560"/>
            <a:ext cx="3008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The loop, not the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834640"/>
            <a:ext cx="30083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Plan → Implement → Review (an agent) → Verify (tests) makes correctness repeatable.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65960"/>
            <a:ext cx="341985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194560"/>
            <a:ext cx="3008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Design as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834640"/>
            <a:ext cx="3008376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A delivered design system becomes a UI by wiring components to its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0543032" cy="8686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361688"/>
            <a:ext cx="457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F46E5"/>
                </a:solidFill>
                <a:latin typeface="Arial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79976"/>
            <a:ext cx="9720072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12E81"/>
                </a:solidFill>
                <a:latin typeface="Arial"/>
              </a:rPr>
              <a:t>TO EXTEND  </a:t>
            </a:r>
            <a:r>
              <a:rPr sz="1200" b="0" i="0">
                <a:solidFill>
                  <a:srgbClr val="312E81"/>
                </a:solidFill>
                <a:latin typeface="Arial"/>
              </a:rPr>
              <a:t>Add a new field end-to-end — backend spec.md first, then type → client → form → tests — and watch the reviewer keep you honest.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Full copy-paste prompts &amp; the contract cheat-sheet → </a:t>
            </a:r>
            <a:r>
              <a:rPr sz="1250" b="1" i="0">
                <a:solidFill>
                  <a:srgbClr val="4F46E5"/>
                </a:solidFill>
                <a:latin typeface="Consolas"/>
              </a:rPr>
              <a:t>facilitator/RUNBOOK.md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355080"/>
            <a:ext cx="256032" cy="256032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336792"/>
            <a:ext cx="3200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Arial"/>
              </a:rPr>
              <a:t>  MiniTrack</a:t>
            </a:r>
            <a:r>
              <a:rPr sz="1000" b="0" i="0">
                <a:solidFill>
                  <a:srgbClr val="94A3B8"/>
                </a:solidFill>
                <a:latin typeface="Arial"/>
              </a:rPr>
              <a:t>  · Live Build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100584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Consolas"/>
              </a:rPr>
              <a:t>16</a:t>
            </a:r>
            <a:r>
              <a:rPr sz="1000" b="0" i="0">
                <a:solidFill>
                  <a:srgbClr val="94A3B8"/>
                </a:solidFill>
                <a:latin typeface="Consolas"/>
              </a:rPr>
              <a:t>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